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9edbd2d3bc4664" /><Relationship Type="http://schemas.openxmlformats.org/officeDocument/2006/relationships/extended-properties" Target="/docProps/app.xml" Id="Re4434503b542421c" /><Relationship Type="http://schemas.openxmlformats.org/officeDocument/2006/relationships/officeDocument" Target="/ppt/presentation.xml" Id="R0469fde23fde47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bfebe8f5dc4c6a"/>
  </p:sldMasterIdLst>
  <p:notesMasterIdLst>
    <p:notesMasterId xmlns:r="http://schemas.openxmlformats.org/officeDocument/2006/relationships" r:id="R712a0ab399354e6b"/>
  </p:notesMasterIdLst>
  <p:sldIdLst>
    <p:sldId xmlns:r="http://schemas.openxmlformats.org/officeDocument/2006/relationships" id="256" r:id="R65b0551f5d8c4f4f"/>
    <p:sldId xmlns:r="http://schemas.openxmlformats.org/officeDocument/2006/relationships" id="257" r:id="Re5a77ac12cdb4516"/>
    <p:sldId xmlns:r="http://schemas.openxmlformats.org/officeDocument/2006/relationships" id="258" r:id="R918803aba0524b8c"/>
    <p:sldId xmlns:r="http://schemas.openxmlformats.org/officeDocument/2006/relationships" id="259" r:id="Rd44dd64e9d1b46d7"/>
    <p:sldId xmlns:r="http://schemas.openxmlformats.org/officeDocument/2006/relationships" id="260" r:id="Rb298346501c7410e"/>
    <p:sldId xmlns:r="http://schemas.openxmlformats.org/officeDocument/2006/relationships" id="261" r:id="R3e8a91aa4b304c38"/>
    <p:sldId xmlns:r="http://schemas.openxmlformats.org/officeDocument/2006/relationships" id="262" r:id="R77f258ef1e184594"/>
    <p:sldId xmlns:r="http://schemas.openxmlformats.org/officeDocument/2006/relationships" id="263" r:id="Raf359e508b5a4f2b"/>
    <p:sldId xmlns:r="http://schemas.openxmlformats.org/officeDocument/2006/relationships" id="264" r:id="R1f5f1485cc5647f2"/>
    <p:sldId xmlns:r="http://schemas.openxmlformats.org/officeDocument/2006/relationships" id="265" r:id="R9ccf8f9c78ca45ab"/>
    <p:sldId xmlns:r="http://schemas.openxmlformats.org/officeDocument/2006/relationships" id="266" r:id="R75bb3b9d6c0349da"/>
    <p:sldId xmlns:r="http://schemas.openxmlformats.org/officeDocument/2006/relationships" id="267" r:id="R14503ef88f384e40"/>
    <p:sldId xmlns:r="http://schemas.openxmlformats.org/officeDocument/2006/relationships" id="268" r:id="R0368595b90c046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2209ef445d440f" /><Relationship Type="http://schemas.openxmlformats.org/officeDocument/2006/relationships/slideMaster" Target="/ppt/slideMasters/slideMaster1.xml" Id="R3bbfebe8f5dc4c6a" /><Relationship Type="http://schemas.openxmlformats.org/officeDocument/2006/relationships/notesMaster" Target="/ppt/notesMasters/notesMaster1.xml" Id="R712a0ab399354e6b" /><Relationship Type="http://schemas.openxmlformats.org/officeDocument/2006/relationships/presProps" Target="/ppt/presProps.xml" Id="R1e1a9f28fdff446c" /><Relationship Type="http://schemas.openxmlformats.org/officeDocument/2006/relationships/tableStyles" Target="/ppt/tableStyles.xml" Id="Rf964c4c8393d47c1" /><Relationship Type="http://schemas.openxmlformats.org/officeDocument/2006/relationships/slide" Target="/ppt/slides/slide1.xml" Id="R65b0551f5d8c4f4f" /><Relationship Type="http://schemas.openxmlformats.org/officeDocument/2006/relationships/slide" Target="/ppt/slides/slide2.xml" Id="Re5a77ac12cdb4516" /><Relationship Type="http://schemas.openxmlformats.org/officeDocument/2006/relationships/slide" Target="/ppt/slides/slide3.xml" Id="R918803aba0524b8c" /><Relationship Type="http://schemas.openxmlformats.org/officeDocument/2006/relationships/slide" Target="/ppt/slides/slide4.xml" Id="Rd44dd64e9d1b46d7" /><Relationship Type="http://schemas.openxmlformats.org/officeDocument/2006/relationships/slide" Target="/ppt/slides/slide5.xml" Id="Rb298346501c7410e" /><Relationship Type="http://schemas.openxmlformats.org/officeDocument/2006/relationships/slide" Target="/ppt/slides/slide6.xml" Id="R3e8a91aa4b304c38" /><Relationship Type="http://schemas.openxmlformats.org/officeDocument/2006/relationships/slide" Target="/ppt/slides/slide7.xml" Id="R77f258ef1e184594" /><Relationship Type="http://schemas.openxmlformats.org/officeDocument/2006/relationships/slide" Target="/ppt/slides/slide8.xml" Id="Raf359e508b5a4f2b" /><Relationship Type="http://schemas.openxmlformats.org/officeDocument/2006/relationships/slide" Target="/ppt/slides/slide9.xml" Id="R1f5f1485cc5647f2" /><Relationship Type="http://schemas.openxmlformats.org/officeDocument/2006/relationships/slide" Target="/ppt/slides/slide10.xml" Id="R9ccf8f9c78ca45ab" /><Relationship Type="http://schemas.openxmlformats.org/officeDocument/2006/relationships/slide" Target="/ppt/slides/slide11.xml" Id="R75bb3b9d6c0349da" /><Relationship Type="http://schemas.openxmlformats.org/officeDocument/2006/relationships/slide" Target="/ppt/slides/slide12.xml" Id="R14503ef88f384e40" /><Relationship Type="http://schemas.openxmlformats.org/officeDocument/2006/relationships/slide" Target="/ppt/slides/slide13.xml" Id="R0368595b90c046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a1328d30bb45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4a120881e343a0" /><Relationship Type="http://schemas.openxmlformats.org/officeDocument/2006/relationships/notesMaster" Target="/ppt/notesMasters/notesMaster1.xml" Id="R997841bc7cd941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b8139f573148b8" /><Relationship Type="http://schemas.openxmlformats.org/officeDocument/2006/relationships/notesMaster" Target="/ppt/notesMasters/notesMaster1.xml" Id="R02479319b19c45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3564517e3a4148" /><Relationship Type="http://schemas.openxmlformats.org/officeDocument/2006/relationships/notesMaster" Target="/ppt/notesMasters/notesMaster1.xml" Id="R4f49c151d5d945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6093183b2d423e" /><Relationship Type="http://schemas.openxmlformats.org/officeDocument/2006/relationships/notesMaster" Target="/ppt/notesMasters/notesMaster1.xml" Id="R5d54c3349d3a48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ad6f18bee4403b" /><Relationship Type="http://schemas.openxmlformats.org/officeDocument/2006/relationships/notesMaster" Target="/ppt/notesMasters/notesMaster1.xml" Id="Rc6850b5935ed41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a69c2484c348d3" /><Relationship Type="http://schemas.openxmlformats.org/officeDocument/2006/relationships/notesMaster" Target="/ppt/notesMasters/notesMaster1.xml" Id="Rdaede78ea2944a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f971b29aeb4dd0" /><Relationship Type="http://schemas.openxmlformats.org/officeDocument/2006/relationships/notesMaster" Target="/ppt/notesMasters/notesMaster1.xml" Id="R9afa39206a9e4a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a4207f670d45ce" /><Relationship Type="http://schemas.openxmlformats.org/officeDocument/2006/relationships/notesMaster" Target="/ppt/notesMasters/notesMaster1.xml" Id="Rf163537f467f48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a255cb2a364614" /><Relationship Type="http://schemas.openxmlformats.org/officeDocument/2006/relationships/notesMaster" Target="/ppt/notesMasters/notesMaster1.xml" Id="Rdddb7464723a48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20682059124fb1" /><Relationship Type="http://schemas.openxmlformats.org/officeDocument/2006/relationships/notesMaster" Target="/ppt/notesMasters/notesMaster1.xml" Id="Rce5e11d9c80744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719908543047d0" /><Relationship Type="http://schemas.openxmlformats.org/officeDocument/2006/relationships/notesMaster" Target="/ppt/notesMasters/notesMaster1.xml" Id="Rf024c7f0e63142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dbf0a600d64843" /><Relationship Type="http://schemas.openxmlformats.org/officeDocument/2006/relationships/notesMaster" Target="/ppt/notesMasters/notesMaster1.xml" Id="R404dec4d094d40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58ce34ed9c4ec0" /><Relationship Type="http://schemas.openxmlformats.org/officeDocument/2006/relationships/notesMaster" Target="/ppt/notesMasters/notesMaster1.xml" Id="Rec9419bda92041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DLT raw CSV (SHA256 9fe035b983666fcd021804c5fc1baaff14cd381d5ae1714527cf5ef2ea856f5d), computed verification.json, ModelComparison.csv and HypothesisEvidence.csv. DLT catalog: https://gdcatalog.dlt.go.th/en/dataset/stat_1_1_01_first_regis_vehicles_car. Course requirements: BI_Term_Project_2569.pdf pages 1–2.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DLT raw CSV (SHA256 9fe035b983666fcd021804c5fc1baaff14cd381d5ae1714527cf5ef2ea856f5d), computed verification.json, ModelComparison.csv and HypothesisEvidence.csv. DLT catalog: https://gdcatalog.dlt.go.th/en/dataset/stat_1_1_01_first_regis_vehicles_car. Course requirements: BI_Term_Project_2569.pdf pages 1–2.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DLT raw CSV (SHA256 9fe035b983666fcd021804c5fc1baaff14cd381d5ae1714527cf5ef2ea856f5d), computed verification.json, ModelComparison.csv and HypothesisEvidence.csv. DLT catalog: https://gdcatalog.dlt.go.th/en/dataset/stat_1_1_01_first_regis_vehicles_car. Course requirements: BI_Term_Project_2569.pdf pages 1–2.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DLT raw CSV (SHA256 9fe035b983666fcd021804c5fc1baaff14cd381d5ae1714527cf5ef2ea856f5d), computed verification.json, ModelComparison.csv and HypothesisEvidence.csv. DLT catalog: https://gdcatalog.dlt.go.th/en/dataset/stat_1_1_01_first_regis_vehicles_car. Course requirements: BI_Term_Project_2569.pdf pages 1–2.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DLT raw CSV (SHA256 9fe035b983666fcd021804c5fc1baaff14cd381d5ae1714527cf5ef2ea856f5d), computed verification.json, ModelComparison.csv and HypothesisEvidence.csv. DLT catalog: https://gdcatalog.dlt.go.th/en/dataset/stat_1_1_01_first_regis_vehicles_car. Course requirements: BI_Term_Project_2569.pdf pages 1–2.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DLT raw CSV (SHA256 9fe035b983666fcd021804c5fc1baaff14cd381d5ae1714527cf5ef2ea856f5d), computed verification.json, ModelComparison.csv and HypothesisEvidence.csv. DLT catalog: https://gdcatalog.dlt.go.th/en/dataset/stat_1_1_01_first_regis_vehicles_car. Course requirements: BI_Term_Project_2569.pdf pages 1–2.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DLT raw CSV (SHA256 9fe035b983666fcd021804c5fc1baaff14cd381d5ae1714527cf5ef2ea856f5d), computed verification.json, ModelComparison.csv and HypothesisEvidence.csv. DLT catalog: https://gdcatalog.dlt.go.th/en/dataset/stat_1_1_01_first_regis_vehicles_car. Course requirements: BI_Term_Project_2569.pdf pages 1–2.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DLT raw CSV (SHA256 9fe035b983666fcd021804c5fc1baaff14cd381d5ae1714527cf5ef2ea856f5d), computed verification.json, ModelComparison.csv and HypothesisEvidence.csv. DLT catalog: https://gdcatalog.dlt.go.th/en/dataset/stat_1_1_01_first_regis_vehicles_car. Course requirements: BI_Term_Project_2569.pdf pages 1–2.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DLT raw CSV (SHA256 9fe035b983666fcd021804c5fc1baaff14cd381d5ae1714527cf5ef2ea856f5d), computed verification.json, ModelComparison.csv and HypothesisEvidence.csv. DLT catalog: https://gdcatalog.dlt.go.th/en/dataset/stat_1_1_01_first_regis_vehicles_car. Course requirements: BI_Term_Project_2569.pdf pages 1–2.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DLT raw CSV (SHA256 9fe035b983666fcd021804c5fc1baaff14cd381d5ae1714527cf5ef2ea856f5d), computed verification.json, ModelComparison.csv and HypothesisEvidence.csv. DLT catalog: https://gdcatalog.dlt.go.th/en/dataset/stat_1_1_01_first_regis_vehicles_car. Course requirements: BI_Term_Project_2569.pdf pages 1–2.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DLT raw CSV (SHA256 9fe035b983666fcd021804c5fc1baaff14cd381d5ae1714527cf5ef2ea856f5d), computed verification.json, ModelComparison.csv and HypothesisEvidence.csv. DLT catalog: https://gdcatalog.dlt.go.th/en/dataset/stat_1_1_01_first_regis_vehicles_car. Course requirements: BI_Term_Project_2569.pdf pages 1–2.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DLT raw CSV (SHA256 9fe035b983666fcd021804c5fc1baaff14cd381d5ae1714527cf5ef2ea856f5d), computed verification.json, ModelComparison.csv and HypothesisEvidence.csv. DLT catalog: https://gdcatalog.dlt.go.th/en/dataset/stat_1_1_01_first_regis_vehicles_car. Course requirements: BI_Term_Project_2569.pdf pages 1–2. Actual native Desktop screenshot: BI Term Project/screenshots/Executive Summary.png. Native Full refresh and DAX receipts are copied in native_evidence. Totals and all7series match measured outputs. Direct page captures do not prove user-triggered parameter switching, hover tooltip, drillthrough or Back. Saved PBIX close/reopen and native Word pagination remain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DLT raw CSV (SHA256 9fe035b983666fcd021804c5fc1baaff14cd381d5ae1714527cf5ef2ea856f5d), computed verification.json, ModelComparison.csv and HypothesisEvidence.csv. DLT catalog: https://gdcatalog.dlt.go.th/en/dataset/stat_1_1_01_first_regis_vehicles_car. Course requirements: BI_Term_Project_2569.pdf pages 1–2.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9916815c504b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89035d8f304c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8b19e8751c40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55ea959a3a49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6397f3e68f42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c23762380842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7D125C-2CF7-4DAE-B178-975AD1342E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BA0B9F9-672D-4F50-971E-63C24550A5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8551360-592F-4331-8FA1-19B42D110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AD2F0B-801A-4E9B-A279-5A8E634854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BCBC67C-78B5-4F2A-A4F3-AA0724E3D5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6CADC3-0F50-4163-AAC5-B417CDE38A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ADBB0D-06D5-4FD4-926B-5980921843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9ECB99-607E-49BB-94E6-BA9699229F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6B9DF5-72B4-4471-BA4E-200DE04936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012E8C-DC83-48F7-BAF1-C94AEF50A6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e9367db43c460d" /><Relationship Type="http://schemas.openxmlformats.org/officeDocument/2006/relationships/slideLayout" Target="/ppt/slideLayouts/slideLayout1.xml" Id="R0375d7461fef410a" /><Relationship Type="http://schemas.openxmlformats.org/officeDocument/2006/relationships/slideLayout" Target="/ppt/slideLayouts/slideLayout2.xml" Id="R7cfbc1a092264c16" /><Relationship Type="http://schemas.openxmlformats.org/officeDocument/2006/relationships/slideLayout" Target="/ppt/slideLayouts/slideLayout3.xml" Id="R0ec31c96ecf742eb" /><Relationship Type="http://schemas.openxmlformats.org/officeDocument/2006/relationships/slideLayout" Target="/ppt/slideLayouts/slideLayout4.xml" Id="R47d1c130a6f649ea" /><Relationship Type="http://schemas.openxmlformats.org/officeDocument/2006/relationships/slideLayout" Target="/ppt/slideLayouts/slideLayout5.xml" Id="R908351dd9bb14f0b" /><Relationship Type="http://schemas.openxmlformats.org/officeDocument/2006/relationships/slideLayout" Target="/ppt/slideLayouts/slideLayout6.xml" Id="R555e3d19f5a949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75d7461fef410a"/>
    <p:sldLayoutId xmlns:r="http://schemas.openxmlformats.org/officeDocument/2006/relationships" id="2147483650" r:id="R7cfbc1a092264c16"/>
    <p:sldLayoutId xmlns:r="http://schemas.openxmlformats.org/officeDocument/2006/relationships" id="2147483651" r:id="R0ec31c96ecf742eb"/>
    <p:sldLayoutId xmlns:r="http://schemas.openxmlformats.org/officeDocument/2006/relationships" id="2147483652" r:id="R47d1c130a6f649ea"/>
    <p:sldLayoutId xmlns:r="http://schemas.openxmlformats.org/officeDocument/2006/relationships" id="2147483653" r:id="R908351dd9bb14f0b"/>
    <p:sldLayoutId xmlns:r="http://schemas.openxmlformats.org/officeDocument/2006/relationships" id="2147483654" r:id="R555e3d19f5a949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6567bdf00640e3" /><Relationship Type="http://schemas.openxmlformats.org/officeDocument/2006/relationships/notesSlide" Target="/ppt/notesSlides/notesSlide1.xml" Id="R57fe5b69beaa4e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a6769f7d0e4adb" /><Relationship Type="http://schemas.openxmlformats.org/officeDocument/2006/relationships/notesSlide" Target="/ppt/notesSlides/notesSlide2.xml" Id="Rdddad6d46fda45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d30c965b884f3d" /><Relationship Type="http://schemas.openxmlformats.org/officeDocument/2006/relationships/notesSlide" Target="/ppt/notesSlides/notesSlide3.xml" Id="R640960f677f947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fd036fa63841df" /><Relationship Type="http://schemas.openxmlformats.org/officeDocument/2006/relationships/notesSlide" Target="/ppt/notesSlides/notesSlide4.xml" Id="Rf84fb128f24f49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c09cc9c0824535" /><Relationship Type="http://schemas.openxmlformats.org/officeDocument/2006/relationships/notesSlide" Target="/ppt/notesSlides/notesSlide5.xml" Id="Re8c5cc363b4a40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214fc465494141" /><Relationship Type="http://schemas.openxmlformats.org/officeDocument/2006/relationships/chart" Target="/ppt/slides/charts/chart1.xml" Id="Re031f2d55b9b44fb" /><Relationship Type="http://schemas.openxmlformats.org/officeDocument/2006/relationships/notesSlide" Target="/ppt/notesSlides/notesSlide6.xml" Id="Rc7305b59c8ab4b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470fa292e14a0f" /><Relationship Type="http://schemas.openxmlformats.org/officeDocument/2006/relationships/notesSlide" Target="/ppt/notesSlides/notesSlide7.xml" Id="R8cacd48ca0cf4a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fec7106b1140cf" /><Relationship Type="http://schemas.openxmlformats.org/officeDocument/2006/relationships/chart" Target="/ppt/slides/charts/chart2.xml" Id="R8a14ef1071664e93" /><Relationship Type="http://schemas.openxmlformats.org/officeDocument/2006/relationships/notesSlide" Target="/ppt/notesSlides/notesSlide8.xml" Id="Ra2230e1befd440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e7e7352a6a4179" /><Relationship Type="http://schemas.openxmlformats.org/officeDocument/2006/relationships/notesSlide" Target="/ppt/notesSlides/notesSlide9.xml" Id="Rfba93d025c1044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8d4df2ebd24d7d" /><Relationship Type="http://schemas.openxmlformats.org/officeDocument/2006/relationships/chart" Target="/ppt/slides/charts/chart3.xml" Id="R25c6ec9c7ff94b58" /><Relationship Type="http://schemas.openxmlformats.org/officeDocument/2006/relationships/notesSlide" Target="/ppt/notesSlides/notesSlide10.xml" Id="Rcddd9ca7170148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3ea66b5a4e4428" /><Relationship Type="http://schemas.openxmlformats.org/officeDocument/2006/relationships/notesSlide" Target="/ppt/notesSlides/notesSlide11.xml" Id="R95857c18b76941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080bbec0954267" /><Relationship Type="http://schemas.openxmlformats.org/officeDocument/2006/relationships/image" Target="/ppt/media/image.png" Id="R71c6c2ad0922472b" /><Relationship Type="http://schemas.openxmlformats.org/officeDocument/2006/relationships/notesSlide" Target="/ppt/notesSlides/notesSlide12.xml" Id="R7abded0dafac45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45b786f94248f4" /><Relationship Type="http://schemas.openxmlformats.org/officeDocument/2006/relationships/notesSlide" Target="/ppt/notesSlides/notesSlide13.xml" Id="R6bc50486e0174b8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Registrations 2024–2025</c:v>
          </c:tx>
          <c:spPr>
            <a:solidFill xmlns:a="http://schemas.openxmlformats.org/drawingml/2006/main">
              <a:srgbClr val="197369"/>
            </a:solidFill>
          </c:spPr>
          <c:cat>
            <c:strRef>
              <c:f>'Chart Data'!$A$2:$A$7</c:f>
              <c:strCache>
                <c:ptCount val="6"/>
                <c:pt idx="0">
                  <c:v>HONDA</c:v>
                </c:pt>
                <c:pt idx="1">
                  <c:v>YAMAHA</c:v>
                </c:pt>
                <c:pt idx="2">
                  <c:v>TOYOTA</c:v>
                </c:pt>
                <c:pt idx="3">
                  <c:v>ISUZU</c:v>
                </c:pt>
                <c:pt idx="4">
                  <c:v>KUBOTA</c:v>
                </c:pt>
                <c:pt idx="5">
                  <c:v>BYD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2938308</c:v>
                </c:pt>
                <c:pt idx="1">
                  <c:v>472137</c:v>
                </c:pt>
                <c:pt idx="2">
                  <c:v>463563</c:v>
                </c:pt>
                <c:pt idx="3">
                  <c:v>146779</c:v>
                </c:pt>
                <c:pt idx="4">
                  <c:v>73374</c:v>
                </c:pt>
                <c:pt idx="5">
                  <c:v>68591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Validation MAE</c:v>
          </c:tx>
          <c:spPr>
            <a:solidFill xmlns:a="http://schemas.openxmlformats.org/drawingml/2006/main">
              <a:srgbClr val="197369"/>
            </a:solidFill>
          </c:spPr>
          <c:cat>
            <c:strRef>
              <c:f>'Chart Data'!$A$2:$A$6</c:f>
              <c:strCache>
                <c:ptCount val="5"/>
                <c:pt idx="0">
                  <c:v>Gradient Boosting</c:v>
                </c:pt>
                <c:pt idx="1">
                  <c:v>Random Forest</c:v>
                </c:pt>
                <c:pt idx="2">
                  <c:v>Ridge Regression</c:v>
                </c:pt>
                <c:pt idx="3">
                  <c:v>Naive Forecast</c:v>
                </c:pt>
                <c:pt idx="4">
                  <c:v>Linear Regression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9436.51</c:v>
                </c:pt>
                <c:pt idx="1">
                  <c:v>11220.82</c:v>
                </c:pt>
                <c:pt idx="2">
                  <c:v>13225.92</c:v>
                </c:pt>
                <c:pt idx="3">
                  <c:v>22610</c:v>
                </c:pt>
                <c:pt idx="4">
                  <c:v>60055.7</c:v>
                </c:pt>
              </c:numCache>
            </c:numRef>
          </c:val>
        </c:ser>
        <c:ser>
          <c:idx val="1"/>
          <c:order val="1"/>
          <c:tx>
            <c:v>Held-out test MAE</c:v>
          </c:tx>
          <c:spPr>
            <a:solidFill xmlns:a="http://schemas.openxmlformats.org/drawingml/2006/main">
              <a:srgbClr val="C3732B"/>
            </a:solidFill>
          </c:spPr>
          <c:cat>
            <c:strRef>
              <c:f>'Chart Data'!$C$2:$C$6</c:f>
              <c:strCache>
                <c:ptCount val="5"/>
                <c:pt idx="0">
                  <c:v>Gradient Boosting</c:v>
                </c:pt>
                <c:pt idx="1">
                  <c:v>Random Forest</c:v>
                </c:pt>
                <c:pt idx="2">
                  <c:v>Ridge Regression</c:v>
                </c:pt>
                <c:pt idx="3">
                  <c:v>Naive Forecast</c:v>
                </c:pt>
                <c:pt idx="4">
                  <c:v>Linear Regression</c:v>
                </c:pt>
              </c:strCache>
            </c:strRef>
          </c:cat>
          <c:val>
            <c:numRef>
              <c:f>'Chart Data'!$D$2:$D$6</c:f>
              <c:numCache>
                <c:formatCode>#,##0</c:formatCode>
                <c:ptCount val="5"/>
                <c:pt idx="0">
                  <c:v>16207.59</c:v>
                </c:pt>
                <c:pt idx="1">
                  <c:v>12789.7</c:v>
                </c:pt>
                <c:pt idx="2">
                  <c:v>15463.32</c:v>
                </c:pt>
                <c:pt idx="3">
                  <c:v>18211.4</c:v>
                </c:pt>
                <c:pt idx="4">
                  <c:v>12919.13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Actual</c:v>
          </c:tx>
          <c:spPr>
            <a:ln xmlns:a="http://schemas.openxmlformats.org/drawingml/2006/main" w="28575">
              <a:solidFill>
                <a:srgbClr val="152B3B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152B3B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25-09</c:v>
                </c:pt>
                <c:pt idx="1">
                  <c:v>25-10</c:v>
                </c:pt>
                <c:pt idx="2">
                  <c:v>25-11</c:v>
                </c:pt>
                <c:pt idx="3">
                  <c:v>25-12</c:v>
                </c:pt>
                <c:pt idx="4">
                  <c:v>26-01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188713</c:v>
                </c:pt>
                <c:pt idx="1">
                  <c:v>185344</c:v>
                </c:pt>
                <c:pt idx="2">
                  <c:v>177066</c:v>
                </c:pt>
                <c:pt idx="3">
                  <c:v>184093</c:v>
                </c:pt>
                <c:pt idx="4">
                  <c:v>250212</c:v>
                </c:pt>
              </c:numCache>
            </c:numRef>
          </c:val>
          <c:smooth val="0"/>
        </c:ser>
        <c:ser>
          <c:idx val="1"/>
          <c:order val="1"/>
          <c:tx>
            <c:v>Test prediction</c:v>
          </c:tx>
          <c:spPr>
            <a:ln xmlns:a="http://schemas.openxmlformats.org/drawingml/2006/main" w="28575">
              <a:solidFill>
                <a:srgbClr val="197369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97369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25-09</c:v>
                </c:pt>
                <c:pt idx="1">
                  <c:v>25-10</c:v>
                </c:pt>
                <c:pt idx="2">
                  <c:v>25-11</c:v>
                </c:pt>
                <c:pt idx="3">
                  <c:v>25-12</c:v>
                </c:pt>
                <c:pt idx="4">
                  <c:v>26-01</c:v>
                </c:pt>
              </c:strCache>
            </c:strRef>
          </c:cat>
          <c:val>
            <c:numRef>
              <c:f>'Chart Data'!$D$2:$D$6</c:f>
              <c:numCache>
                <c:formatCode>#,##0</c:formatCode>
                <c:ptCount val="5"/>
                <c:pt idx="0">
                  <c:v>169523.23</c:v>
                </c:pt>
                <c:pt idx="1">
                  <c:v>184791.01</c:v>
                </c:pt>
                <c:pt idx="2">
                  <c:v>184847.03</c:v>
                </c:pt>
                <c:pt idx="3">
                  <c:v>167494.15</c:v>
                </c:pt>
                <c:pt idx="4">
                  <c:v>213296.68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60000"/>
          <c:min val="150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7EB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70198-3321-4143-ADB5-C366B472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B3B"/>
                </a:solidFill>
                <a:latin typeface="Arial"/>
                <a:ea typeface="Arial"/>
                <a:cs typeface="Arial"/>
              </a:rPr>
              <a:t>DLT brand and vehicle type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608F7-9DAD-4C8B-A529-B85AB5E4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7A48C-C9E1-4659-BCA5-6BF46AAC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973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9736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97369"/>
                </a:solidFill>
                <a:latin typeface="Arial"/>
                <a:ea typeface="Arial"/>
                <a:cs typeface="Arial"/>
              </a:rPr>
              <a:t>A proposed decision support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07F7D-6BDD-4130-A5B5-58E767EE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52B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B3B"/>
                </a:solidFill>
                <a:latin typeface="Arial"/>
                <a:ea typeface="Arial"/>
                <a:cs typeface="Arial"/>
              </a:rPr>
              <a:t>Measured brand composition and seven independent forecast series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9C6FB-755E-412D-94DB-04DD0C64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971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Business Intelligence Term Project</a:t>
            </a:r>
          </a:p>
          <a:p xmlns:a="http://schemas.openxmlformats.org/drawingml/2006/main">
            <a:pPr>
              <a:defRPr sz="21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11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B99EE-BBF0-43C9-9A75-5B31E328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C37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373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3732B"/>
                </a:solidFill>
                <a:latin typeface="Arial"/>
                <a:ea typeface="Arial"/>
                <a:cs typeface="Arial"/>
              </a:rPr>
              <a:t>Group members, topic uniqueness and instructor approval pending</a:t>
            </a:r>
          </a:p>
        </p:txBody>
      </p:sp>
    </p:spTree>
    <p:extLst>
      <p:ext uri="{BB962C8B-B14F-4D97-AF65-F5344CB8AC3E}">
        <p14:creationId xmlns:p14="http://schemas.microsoft.com/office/powerpoint/2010/main" val="14434243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76979-7DEC-47C3-B5FC-60C1AC06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B3B"/>
                </a:solidFill>
                <a:latin typeface="Arial"/>
                <a:ea typeface="Arial"/>
                <a:cs typeface="Arial"/>
              </a:rPr>
              <a:t>Brand and type detail changes the planning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78220-BDE6-4CEA-BBDF-FCA701BD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A07AB-1673-4ED7-B918-41443731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14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825" b="1">
                <a:solidFill>
                  <a:srgbClr val="1973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825" b="1">
                <a:solidFill>
                  <a:srgbClr val="197369"/>
                </a:solidFill>
                <a:latin typeface="Arial"/>
                <a:ea typeface="Arial"/>
                <a:cs typeface="Arial"/>
              </a:defRPr>
            </a:pPr>
            <a:r>
              <a:rPr sz="6825" b="1">
                <a:solidFill>
                  <a:srgbClr val="197369"/>
                </a:solidFill>
                <a:latin typeface="Arial"/>
                <a:ea typeface="Arial"/>
                <a:cs typeface="Arial"/>
              </a:rPr>
              <a:t>72.38%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03146-03B0-4152-B083-340FB432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9055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52B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B3B"/>
                </a:solidFill>
                <a:latin typeface="Arial"/>
                <a:ea typeface="Arial"/>
                <a:cs typeface="Arial"/>
              </a:rPr>
              <a:t>Motorcycle share of registrations</a:t>
            </a:r>
          </a:p>
          <a:p xmlns:a="http://schemas.openxmlformats.org/drawingml/2006/main">
            <a:pPr>
              <a:defRPr sz="2325" b="0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2B3B"/>
                </a:solidFill>
                <a:latin typeface="Arial"/>
                <a:ea typeface="Arial"/>
                <a:cs typeface="Arial"/>
              </a:rPr>
              <a:t>in the complete years 2024–2025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2313E-ED8C-45BA-9C91-A03CDA5D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52575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52B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B3B"/>
                </a:solidFill>
                <a:latin typeface="Arial"/>
                <a:ea typeface="Arial"/>
                <a:cs typeface="Arial"/>
              </a:rPr>
              <a:t>A distributor needs category-specific evidence before translating national registrations into planning assumptions.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641D4-A74A-4234-B5E8-E1F8028B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05250"/>
            <a:ext cx="4762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2B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B3B"/>
                </a:solidFill>
                <a:latin typeface="Arial"/>
                <a:ea typeface="Arial"/>
                <a:cs typeface="Arial"/>
              </a:rPr>
              <a:t>Compare brands within vehicle type.</a:t>
            </a:r>
          </a:p>
          <a:p xmlns:a="http://schemas.openxmlformats.org/drawingml/2006/main">
            <a:pPr>
              <a:defRPr sz="2100" b="0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B3B"/>
                </a:solidFill>
                <a:latin typeface="Arial"/>
                <a:ea typeface="Arial"/>
                <a:cs typeface="Arial"/>
              </a:rPr>
              <a:t>Evaluate forecast error for each segment.</a:t>
            </a:r>
          </a:p>
          <a:p xmlns:a="http://schemas.openxmlformats.org/drawingml/2006/main">
            <a:pPr>
              <a:defRPr sz="2100" b="0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B3B"/>
                </a:solidFill>
                <a:latin typeface="Arial"/>
                <a:ea typeface="Arial"/>
                <a:cs typeface="Arial"/>
              </a:rPr>
              <a:t>Add inventory, sales and lead times before ordering.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CA55A-6A40-47D8-9EE2-25CEC046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Registration counts are a market-activity proxy. The source contains no transaction prices or inventory.</a:t>
            </a:r>
          </a:p>
        </p:txBody>
      </p:sp>
    </p:spTree>
    <p:extLst>
      <p:ext uri="{BB962C8B-B14F-4D97-AF65-F5344CB8AC3E}">
        <p14:creationId xmlns:p14="http://schemas.microsoft.com/office/powerpoint/2010/main" val="77474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84248-A550-420E-99A8-715B5B0F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B3B"/>
                </a:solidFill>
                <a:latin typeface="Arial"/>
                <a:ea typeface="Arial"/>
                <a:cs typeface="Arial"/>
              </a:rPr>
              <a:t>Source coverage and data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4D03F-2ACD-4493-9F6D-359D2ED5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25837-C2D1-4FF8-93E6-E58D7BF1BC3E}"/>
              </a:ext>
            </a:extLst>
          </p:cNvPr>
          <p:cNvGraphicFramePr/>
          <p:nvPr/>
        </p:nvGraphicFramePr>
        <p:xfrm>
          <a:off xmlns:a="http://schemas.openxmlformats.org/drawingml/2006/main" x="609600" y="14097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6972300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114300" marR="114300" marT="85725" marB="857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Measured result</a:t>
                      </a:r>
                    </a:p>
                  </a:txBody>
                  <a:tcPr marL="114300" marR="114300" marT="85725" marB="85725" anchor="ctr">
                    <a:solidFill>
                      <a:srgbClr val="E8EE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Original snapshot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68,398 rows and 9 columns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Observed periods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49 months. December 2023 missing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Partial February 2026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6 source records and 18 registrations. Excluded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Missing model names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623 rows retained for brand/type totals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Exact and natural-key duplicates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Complete modeling period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25 consecutive months. January 2024–January 2026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AC054-8542-4470-A873-45489C13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Public source: Department of Land Transport. Preserved raw snapshot and SHA256 support repeatable analysis.</a:t>
            </a:r>
          </a:p>
        </p:txBody>
      </p:sp>
    </p:spTree>
    <p:extLst>
      <p:ext uri="{BB962C8B-B14F-4D97-AF65-F5344CB8AC3E}">
        <p14:creationId xmlns:p14="http://schemas.microsoft.com/office/powerpoint/2010/main" val="5876382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B5A4A-CE80-4173-8D7C-14397C75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B3B"/>
                </a:solidFill>
                <a:latin typeface="Arial"/>
                <a:ea typeface="Arial"/>
                <a:cs typeface="Arial"/>
              </a:rPr>
              <a:t>ETL reconciles source rows and monthly facts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C389D-D954-4599-A222-FB9435E0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513AE-2546-4F7B-9248-FD5A0CB7E462}"/>
              </a:ext>
            </a:extLst>
          </p:cNvPr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905750"/>
                <a:gridCol w="3067050"/>
              </a:tblGrid>
              <a:tr h="5794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114300" marR="114300" marT="85725" marB="857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marL="114300" marR="114300" marT="85725" marB="85725" anchor="ctr">
                    <a:solidFill>
                      <a:srgbClr val="E8EEF2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Original raw data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68,398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Complete analysis window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35,805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Date × brand × vehicle type fact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5,712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Actual registration count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5,007,659 vehicles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Dimensions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421 brands and 16 vehicle types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44259-9B8B-4429-B954-3EC063BB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2B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B3B"/>
                </a:solidFill>
                <a:latin typeface="Arial"/>
                <a:ea typeface="Arial"/>
                <a:cs typeface="Arial"/>
              </a:rPr>
              <a:t>FactRegistrations connects to Date, Brand and VehicleType. A separate Series dimension controls forecasts and model metrics.</a:t>
            </a:r>
          </a:p>
        </p:txBody>
      </p:sp>
    </p:spTree>
    <p:extLst>
      <p:ext uri="{BB962C8B-B14F-4D97-AF65-F5344CB8AC3E}">
        <p14:creationId xmlns:p14="http://schemas.microsoft.com/office/powerpoint/2010/main" val="6708303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1DC0E-3C7B-4076-A65B-424E0728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B3B"/>
                </a:solidFill>
                <a:latin typeface="Arial"/>
                <a:ea typeface="Arial"/>
                <a:cs typeface="Arial"/>
              </a:rPr>
              <a:t>Six hypotheses have measured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CE23D-6CFD-4A05-A023-2DFEBDD0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E5A30-53D7-4311-8383-5BCD81FABBF2}"/>
              </a:ext>
            </a:extLst>
          </p:cNvPr>
          <p:cNvGraphicFramePr/>
          <p:nvPr/>
        </p:nvGraphicFramePr>
        <p:xfrm>
          <a:off xmlns:a="http://schemas.openxmlformats.org/drawingml/2006/main" x="609600" y="1371600"/>
          <a:ext xmlns:a="http://schemas.openxmlformats.org/drawingml/2006/main" cx="109728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43600"/>
                <a:gridCol w="2838450"/>
                <a:gridCol w="2190750"/>
              </a:tblGrid>
              <a:tr h="60551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Hypothesis</a:t>
                      </a:r>
                    </a:p>
                  </a:txBody>
                  <a:tcPr marL="114300" marR="114300" marT="85725" marB="857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114300" marR="114300" marT="85725" marB="857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</a:p>
                  </a:txBody>
                  <a:tcPr marL="114300" marR="114300" marT="85725" marB="85725" anchor="ctr">
                    <a:solidFill>
                      <a:srgbClr val="E8EEF2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Motorcycles exceed half of registrations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72.3830%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Supported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Honda is the largest brand overall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61.7623% share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Supported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Passenger car registrations decline in 2025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Actual change +3.9995%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Not supported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Three brands exceed 70% of registrations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81.4304%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Supported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January 2026 exceeds January 2025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+9.7903%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Supported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Selected total method improves on Naive test MAE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11.0030% reduction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Supported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91CF1-4919-496D-A016-27242F90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Descriptive findings on the supplied snapshot. These results do not establish causation.</a:t>
            </a:r>
          </a:p>
        </p:txBody>
      </p:sp>
    </p:spTree>
    <p:extLst>
      <p:ext uri="{BB962C8B-B14F-4D97-AF65-F5344CB8AC3E}">
        <p14:creationId xmlns:p14="http://schemas.microsoft.com/office/powerpoint/2010/main" val="9947262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57AD7-31BF-4C24-9E2A-AB2268F6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B3B"/>
                </a:solidFill>
                <a:latin typeface="Arial"/>
                <a:ea typeface="Arial"/>
                <a:cs typeface="Arial"/>
              </a:rPr>
              <a:t>Honda leads the overall registration mix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55536-6232-4F6C-8205-A1DB43DE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8C80C80-493C-4080-A5D6-38B01056CD4F}"/>
              </a:ext>
            </a:extLst>
          </p:cNvPr>
          <p:cNvGraphicFramePr/>
          <p:nvPr/>
        </p:nvGraphicFramePr>
        <p:xfrm>
          <a:off xmlns:a="http://schemas.openxmlformats.org/drawingml/2006/main" x="619125" y="1352550"/>
          <a:ext xmlns:a="http://schemas.openxmlformats.org/drawingml/2006/main" cx="10906125" cy="4219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31f2d55b9b44f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A469D-08B5-4925-BC29-EEDEEF78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Overall brand rankings mix motorcycles and passenger cars. A vehicle-type filter is essential for product decisions.</a:t>
            </a:r>
          </a:p>
        </p:txBody>
      </p:sp>
    </p:spTree>
    <p:extLst>
      <p:ext uri="{BB962C8B-B14F-4D97-AF65-F5344CB8AC3E}">
        <p14:creationId xmlns:p14="http://schemas.microsoft.com/office/powerpoint/2010/main" val="4196615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30E76-1427-42DA-8378-096EB850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B3B"/>
                </a:solidFill>
                <a:latin typeface="Arial"/>
                <a:ea typeface="Arial"/>
                <a:cs typeface="Arial"/>
              </a:rPr>
              <a:t>Validation selects the method before test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BA6EF-369A-4DC7-972E-3050DA32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2D88A-5DD8-4B22-9F41-CC8A3C96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973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9736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369"/>
                </a:solidFill>
                <a:latin typeface="Arial"/>
                <a:ea typeface="Arial"/>
                <a:cs typeface="Arial"/>
              </a:rPr>
              <a:t>Train 12 months</a:t>
            </a:r>
          </a:p>
          <a:p xmlns:a="http://schemas.openxmlformats.org/drawingml/2006/main">
            <a:pPr>
              <a:defRPr sz="2325" b="1">
                <a:solidFill>
                  <a:srgbClr val="19736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369"/>
                </a:solidFill>
                <a:latin typeface="Arial"/>
                <a:ea typeface="Arial"/>
                <a:cs typeface="Arial"/>
              </a:rPr>
              <a:t>Apr 2024–Mar 2025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1B542-CE84-4F6B-9612-E302B566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097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973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9736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369"/>
                </a:solidFill>
                <a:latin typeface="Arial"/>
                <a:ea typeface="Arial"/>
                <a:cs typeface="Arial"/>
              </a:rPr>
              <a:t>Validation 5 months</a:t>
            </a:r>
          </a:p>
          <a:p xmlns:a="http://schemas.openxmlformats.org/drawingml/2006/main">
            <a:pPr>
              <a:defRPr sz="2325" b="1">
                <a:solidFill>
                  <a:srgbClr val="19736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369"/>
                </a:solidFill>
                <a:latin typeface="Arial"/>
                <a:ea typeface="Arial"/>
                <a:cs typeface="Arial"/>
              </a:rPr>
              <a:t>Apr–Aug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43EF7-0BEF-48CF-A4E2-B454C6F8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097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C37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C373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3732B"/>
                </a:solidFill>
                <a:latin typeface="Arial"/>
                <a:ea typeface="Arial"/>
                <a:cs typeface="Arial"/>
              </a:rPr>
              <a:t>Test 5 months</a:t>
            </a:r>
          </a:p>
          <a:p xmlns:a="http://schemas.openxmlformats.org/drawingml/2006/main">
            <a:pPr>
              <a:defRPr sz="2325" b="1">
                <a:solidFill>
                  <a:srgbClr val="C373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3732B"/>
                </a:solidFill>
                <a:latin typeface="Arial"/>
                <a:ea typeface="Arial"/>
                <a:cs typeface="Arial"/>
              </a:rPr>
              <a:t>Sep 2025–Jan 2026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591DC-577F-4C67-904F-838D0DD75357}"/>
              </a:ext>
            </a:extLst>
          </p:cNvPr>
          <p:cNvGraphicFramePr/>
          <p:nvPr/>
        </p:nvGraphicFramePr>
        <p:xfrm>
          <a:off xmlns:a="http://schemas.openxmlformats.org/drawingml/2006/main" x="609600" y="2676525"/>
          <a:ext xmlns:a="http://schemas.openxmlformats.org/drawingml/2006/main" cx="109728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454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114300" marR="114300" marT="85725" marB="857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Fixed setup</a:t>
                      </a:r>
                    </a:p>
                  </a:txBody>
                  <a:tcPr marL="114300" marR="114300" marT="85725" marB="85725" anchor="ctr">
                    <a:solidFill>
                      <a:srgbClr val="E8EEF2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Linear Regression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Training-only scaling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Ridge Regression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Training-only scaling. Alpha 10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200 trees. Depth 3. Leaf minimum 2. Seed 42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Gradient Boosting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200 rounds. Rate .03. Depth 2. Seed 42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Naive baseline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Previous observed month. No model fit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EA138-9CFC-4527-9E00-DFEB80A0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Lag1–Lag3, month sine/cosine and calendar index. Rolling one-month-ahead evaluation. No shuffle.</a:t>
            </a:r>
          </a:p>
        </p:txBody>
      </p:sp>
    </p:spTree>
    <p:extLst>
      <p:ext uri="{BB962C8B-B14F-4D97-AF65-F5344CB8AC3E}">
        <p14:creationId xmlns:p14="http://schemas.microsoft.com/office/powerpoint/2010/main" val="12905627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4B623-2DBD-41AD-A72F-6AEB2F8B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B3B"/>
                </a:solidFill>
                <a:latin typeface="Arial"/>
                <a:ea typeface="Arial"/>
                <a:cs typeface="Arial"/>
              </a:rPr>
              <a:t>The total method wins validation with MAE 9,436.51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B4BBB-741E-4C38-BFDB-3FAA18CF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A2C3613B-1243-4D22-8502-0A1009CF290E}"/>
              </a:ext>
            </a:extLst>
          </p:cNvPr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906125" cy="4086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14ef1071664e9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0B93A-52CB-4918-9E55-5BD309B5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Gradient Boosting remains selected. Random Forest has lower test MAE, which cannot be used to change selection.</a:t>
            </a:r>
          </a:p>
        </p:txBody>
      </p:sp>
    </p:spTree>
    <p:extLst>
      <p:ext uri="{BB962C8B-B14F-4D97-AF65-F5344CB8AC3E}">
        <p14:creationId xmlns:p14="http://schemas.microsoft.com/office/powerpoint/2010/main" val="2629623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9798B-0A2C-48E4-AC62-EFD72053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B3B"/>
                </a:solidFill>
                <a:latin typeface="Arial"/>
                <a:ea typeface="Arial"/>
                <a:cs typeface="Arial"/>
              </a:rPr>
              <a:t>Each segment retains its validation winner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5B172-2CF8-4859-B1A4-3765BE5D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1073E-8C4A-466F-BB3D-A0E470D5A3E3}"/>
              </a:ext>
            </a:extLst>
          </p:cNvPr>
          <p:cNvGraphicFramePr/>
          <p:nvPr/>
        </p:nvGraphicFramePr>
        <p:xfrm>
          <a:off xmlns:a="http://schemas.openxmlformats.org/drawingml/2006/main" x="609600" y="1362075"/>
          <a:ext xmlns:a="http://schemas.openxmlformats.org/drawingml/2006/main" cx="10972800" cy="4305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571750"/>
                <a:gridCol w="1762125"/>
                <a:gridCol w="1428750"/>
                <a:gridCol w="2352675"/>
              </a:tblGrid>
              <a:tr h="5381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Series</a:t>
                      </a:r>
                    </a:p>
                  </a:txBody>
                  <a:tcPr marL="114300" marR="114300" marT="85725" marB="857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114300" marR="114300" marT="85725" marB="857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Test MAE</a:t>
                      </a:r>
                    </a:p>
                  </a:txBody>
                  <a:tcPr marL="114300" marR="114300" marT="85725" marB="857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Test R²</a:t>
                      </a:r>
                    </a:p>
                  </a:txBody>
                  <a:tcPr marL="114300" marR="114300" marT="85725" marB="857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Feb 2026 forecast</a:t>
                      </a:r>
                    </a:p>
                  </a:txBody>
                  <a:tcPr marL="114300" marR="114300" marT="85725" marB="85725" anchor="ctr">
                    <a:solidFill>
                      <a:srgbClr val="E8EEF2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Gradient Boosting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16,207.59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0.4257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227,934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HONDA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4,461.94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0.5784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128,385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TOYOTA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Ridge Regression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2,331.19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0.1598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19,006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YAMAHA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Gradient Boosting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1,255.65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-0.5593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18,789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Motorcycles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5,760.65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0.3158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147,213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Passenger cars ≤7 seats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Ridge Regression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9,857.36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-0.1553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41,274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Private trucks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Naive Forecast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749.80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-0.7221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6,312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E51F0-0A91-42EA-BC04-5845DF91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Forecast series overlap. The total already contains the brand and vehicle-type series, so the seven forecasts cannot be added.</a:t>
            </a:r>
          </a:p>
        </p:txBody>
      </p:sp>
    </p:spTree>
    <p:extLst>
      <p:ext uri="{BB962C8B-B14F-4D97-AF65-F5344CB8AC3E}">
        <p14:creationId xmlns:p14="http://schemas.microsoft.com/office/powerpoint/2010/main" val="7404489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86F3F-5281-4AE7-95FD-75D31B18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B3B"/>
                </a:solidFill>
                <a:latin typeface="Arial"/>
                <a:ea typeface="Arial"/>
                <a:cs typeface="Arial"/>
              </a:rPr>
              <a:t>The January peak creates a large total forecast error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EB7ED-3A53-4B88-94D4-D6C11985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A3A44AFD-FDA6-443D-B6A3-FDDDEA5D2DD0}"/>
              </a:ext>
            </a:extLst>
          </p:cNvPr>
          <p:cNvGraphicFramePr/>
          <p:nvPr/>
        </p:nvGraphicFramePr>
        <p:xfrm>
          <a:off xmlns:a="http://schemas.openxmlformats.org/drawingml/2006/main" x="619125" y="1362075"/>
          <a:ext xmlns:a="http://schemas.openxmlformats.org/drawingml/2006/main" cx="10906125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c6ec9c7ff94b5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96B8F-6F97-45F4-B4EA-0E3A0DE8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Five held-out months. January error 36,915.32. February forecast 227,934.33 with actual blank.</a:t>
            </a:r>
          </a:p>
        </p:txBody>
      </p:sp>
    </p:spTree>
    <p:extLst>
      <p:ext uri="{BB962C8B-B14F-4D97-AF65-F5344CB8AC3E}">
        <p14:creationId xmlns:p14="http://schemas.microsoft.com/office/powerpoint/2010/main" val="15784028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62307-B735-4F74-A978-BE8472F9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B3B"/>
                </a:solidFill>
                <a:latin typeface="Arial"/>
                <a:ea typeface="Arial"/>
                <a:cs typeface="Arial"/>
              </a:rPr>
              <a:t>Large errors identify segments needing investigation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0F9E9-0CC3-45BA-86A6-6851E829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90C94-7BF0-4D47-A51E-2B03C536AAFC}"/>
              </a:ext>
            </a:extLst>
          </p:cNvPr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3038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809750"/>
                <a:gridCol w="1714500"/>
                <a:gridCol w="2095500"/>
                <a:gridCol w="2209800"/>
              </a:tblGrid>
              <a:tr h="60769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Series</a:t>
                      </a:r>
                    </a:p>
                  </a:txBody>
                  <a:tcPr marL="114300" marR="114300" marT="85725" marB="857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Month</a:t>
                      </a:r>
                    </a:p>
                  </a:txBody>
                  <a:tcPr marL="114300" marR="114300" marT="85725" marB="857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Actual</a:t>
                      </a:r>
                    </a:p>
                  </a:txBody>
                  <a:tcPr marL="114300" marR="114300" marT="85725" marB="857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Prediction</a:t>
                      </a:r>
                    </a:p>
                  </a:txBody>
                  <a:tcPr marL="114300" marR="114300" marT="85725" marB="857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Absolute error</a:t>
                      </a:r>
                    </a:p>
                  </a:txBody>
                  <a:tcPr marL="114300" marR="114300" marT="85725" marB="85725" anchor="ctr">
                    <a:solidFill>
                      <a:srgbClr val="E8EEF2"/>
                    </a:solidFill>
                  </a:tcPr>
                </a:tc>
              </a:tr>
              <a:tr h="60769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Passenger cars ≤7 seats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2026-01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83,281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40,445.42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42,835.58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2026-01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250,212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213,296.68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36,915.32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</a:tr>
              <a:tr h="60769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2025-09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188,713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169,523.23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19,189.77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2025-12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184,093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167,494.15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52B3B"/>
                          </a:solidFill>
                          <a:latin typeface="Arial"/>
                          <a:ea typeface="Arial"/>
                          <a:cs typeface="Arial"/>
                        </a:rPr>
                        <a:t>16,598.85</a:t>
                      </a:r>
                    </a:p>
                  </a:txBody>
                  <a:tcPr marL="114300" marR="114300" marT="85725" marB="85725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418C7-4A70-4094-968E-17F256AD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8204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52B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B3B"/>
                </a:solidFill>
                <a:latin typeface="Arial"/>
                <a:ea typeface="Arial"/>
                <a:cs typeface="Arial"/>
              </a:rPr>
              <a:t>Only five test months support these error estimates. Lag/calendar features do not explain the cause of the January jump.</a:t>
            </a:r>
          </a:p>
        </p:txBody>
      </p:sp>
    </p:spTree>
    <p:extLst>
      <p:ext uri="{BB962C8B-B14F-4D97-AF65-F5344CB8AC3E}">
        <p14:creationId xmlns:p14="http://schemas.microsoft.com/office/powerpoint/2010/main" val="15661725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40361-2726-4078-8E08-05C65584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B3B"/>
                </a:solidFill>
                <a:latin typeface="Arial"/>
                <a:ea typeface="Arial"/>
                <a:cs typeface="Arial"/>
              </a:rPr>
              <a:t>Native Desktop pages and DAX agree with the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0AB88-7526-4F94-99F2-38D71B7D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C4E98-FA5E-4886-A64F-79B8A7B13A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6c2ad0922472b"/>
          <a:stretch xmlns:a="http://schemas.openxmlformats.org/drawingml/2006/main"/>
        </p:blipFill>
        <p:spPr>
          <a:xfrm xmlns:a="http://schemas.openxmlformats.org/drawingml/2006/main">
            <a:off x="609713" y="1171575"/>
            <a:ext cx="10972575" cy="510254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39D9E-62B2-40E6-BE40-CC4CB7EF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Full refresh and all 7 series pass native DAX. Saved PBIX and user interactions remain pending.</a:t>
            </a:r>
          </a:p>
        </p:txBody>
      </p:sp>
    </p:spTree>
    <p:extLst>
      <p:ext uri="{BB962C8B-B14F-4D97-AF65-F5344CB8AC3E}">
        <p14:creationId xmlns:p14="http://schemas.microsoft.com/office/powerpoint/2010/main" val="12107406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3CAD4-D2E6-4862-B781-2FF1EA97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B3B"/>
                </a:solidFill>
                <a:latin typeface="Arial"/>
                <a:ea typeface="Arial"/>
                <a:cs typeface="Arial"/>
              </a:rPr>
              <a:t>Segment evidence guides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1C878-1177-4733-BD34-D54A2CB9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F6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E7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279DD-3B47-4A2C-B1A3-37AF0779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66800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973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9736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97369"/>
                </a:solidFill>
                <a:latin typeface="Arial"/>
                <a:ea typeface="Arial"/>
                <a:cs typeface="Arial"/>
              </a:rPr>
              <a:t>Motorcycles dominate overall registrations.</a:t>
            </a:r>
          </a:p>
          <a:p xmlns:a="http://schemas.openxmlformats.org/drawingml/2006/main">
            <a:pPr>
              <a:defRPr sz="2775" b="1">
                <a:solidFill>
                  <a:srgbClr val="19736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97369"/>
                </a:solidFill>
                <a:latin typeface="Arial"/>
                <a:ea typeface="Arial"/>
                <a:cs typeface="Arial"/>
              </a:rPr>
              <a:t>Passenger cars grew 4.00% in 2025.</a:t>
            </a:r>
          </a:p>
          <a:p xmlns:a="http://schemas.openxmlformats.org/drawingml/2006/main">
            <a:pPr>
              <a:defRPr sz="2775" b="1">
                <a:solidFill>
                  <a:srgbClr val="19736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97369"/>
                </a:solidFill>
                <a:latin typeface="Arial"/>
                <a:ea typeface="Arial"/>
                <a:cs typeface="Arial"/>
              </a:rPr>
              <a:t>Forecast reliability differs across segments.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1294D-071B-4CEF-9AE1-0E7E73B5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0668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2B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B3B"/>
                </a:solidFill>
                <a:latin typeface="Arial"/>
                <a:ea typeface="Arial"/>
                <a:cs typeface="Arial"/>
              </a:rPr>
              <a:t>Business use needs inventory, sales, prices and supplier lead times.</a:t>
            </a:r>
          </a:p>
          <a:p xmlns:a="http://schemas.openxmlformats.org/drawingml/2006/main">
            <a:pPr>
              <a:defRPr sz="2100" b="0">
                <a:solidFill>
                  <a:srgbClr val="152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B3B"/>
                </a:solidFill>
                <a:latin typeface="Arial"/>
                <a:ea typeface="Arial"/>
                <a:cs typeface="Arial"/>
              </a:rPr>
              <a:t>More history and rolling validation are needed before stock commitments.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3D791-31BB-4D90-98E4-C8471681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C37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C373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3732B"/>
                </a:solidFill>
                <a:latin typeface="Arial"/>
                <a:ea typeface="Arial"/>
                <a:cs typeface="Arial"/>
              </a:rPr>
              <a:t>Before submission: actual group identities and topic approval, saved PBIX reopen, real feature interactions and the final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546197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2026-10-10T21:33:00.2410000Z</dcterms:created>
  <dcterms:modified xsi:type="dcterms:W3CDTF">2026-10-10T21:33:00.2410000Z</dcterms:modified>
</coreProperties>
</file>