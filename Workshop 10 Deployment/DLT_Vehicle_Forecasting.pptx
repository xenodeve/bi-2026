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26" r:id="rId28"/>
    <p:sldId id="327" r:id="rId29"/>
    <p:sldId id="282" r:id="rId30"/>
    <p:sldId id="283" r:id="rId31"/>
    <p:sldId id="284" r:id="rId32"/>
    <p:sldId id="328" r:id="rId33"/>
    <p:sldId id="285" r:id="rId34"/>
    <p:sldId id="329" r:id="rId35"/>
    <p:sldId id="330" r:id="rId36"/>
    <p:sldId id="286" r:id="rId37"/>
    <p:sldId id="287" r:id="rId38"/>
    <p:sldId id="331" r:id="rId39"/>
    <p:sldId id="332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Cordia New"/>
        <a:ea typeface="Cordia New"/>
        <a:cs typeface="Cordia New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3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ordia New"/>
          <a:ea typeface="Cordia New"/>
          <a:cs typeface="Cordia Ne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ordia New"/>
          <a:ea typeface="Cordia New"/>
          <a:cs typeface="Cordia Ne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ordia New"/>
          <a:ea typeface="Cordia New"/>
          <a:cs typeface="Cordia Ne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ordia New"/>
          <a:ea typeface="Cordia New"/>
          <a:cs typeface="Cordia Ne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ordia New"/>
          <a:ea typeface="Cordia New"/>
          <a:cs typeface="Cordia New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ordia New"/>
          <a:ea typeface="Cordia New"/>
          <a:cs typeface="Cordia Ne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04672"/>
            <a:ext cx="10241280" cy="8595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ordia New"/>
              </a:rPr>
              <a:t>Vehicle Registration Forecasting in Thailand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737360"/>
            <a:ext cx="96012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D2E2E7"/>
                </a:solidFill>
                <a:latin typeface="Cordia New"/>
              </a:rPr>
              <a:t>Lab แบบทำตามทีละขั้นด้วย Jupyter Notebook และ Power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944368"/>
            <a:ext cx="1783080" cy="512064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944368"/>
            <a:ext cx="178308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rdia New"/>
              </a:rPr>
              <a:t>68,398 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5768" y="2944368"/>
            <a:ext cx="1783080" cy="512064"/>
          </a:xfrm>
          <a:prstGeom prst="roundRect">
            <a:avLst/>
          </a:prstGeom>
          <a:solidFill>
            <a:srgbClr val="2B6BB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15768" y="2944368"/>
            <a:ext cx="178308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rdia New"/>
              </a:rPr>
              <a:t>49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944368"/>
            <a:ext cx="1783080" cy="512064"/>
          </a:xfrm>
          <a:prstGeom prst="roundRect">
            <a:avLst/>
          </a:prstGeom>
          <a:solidFill>
            <a:srgbClr val="6F4EAC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944368"/>
            <a:ext cx="178308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rdia New"/>
              </a:rPr>
              <a:t>5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2944368"/>
            <a:ext cx="1783080" cy="512064"/>
          </a:xfrm>
          <a:prstGeom prst="roundRect">
            <a:avLst/>
          </a:prstGeom>
          <a:solidFill>
            <a:srgbClr val="E08429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944368"/>
            <a:ext cx="178308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rdia New"/>
              </a:rPr>
              <a:t>70/30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944368"/>
            <a:ext cx="1783080" cy="512064"/>
          </a:xfrm>
          <a:prstGeom prst="roundRect">
            <a:avLst/>
          </a:prstGeom>
          <a:solidFill>
            <a:srgbClr val="369759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13648" y="2944368"/>
            <a:ext cx="178308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06240"/>
            <a:ext cx="95097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1EFF2"/>
                </a:solidFill>
                <a:latin typeface="Cordia New"/>
              </a:rPr>
              <a:t>Best model in this Lab: Random Forest | Forecast Feb 2026: 204,586 vehicles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6928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ED1DA"/>
                </a:solidFill>
                <a:latin typeface="Cordia New"/>
              </a:rPr>
              <a:t>ใช้ข้อมูลรถจดทะเบียนครั้งแรกของกรมการขนส่งทางบก (DLT)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วัตถุประสงค์ของ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เมื่อสิ้นสุดการปฏิบัติการ นักศึกษาควรสามารถดำเนินกระบวนการตั้งแต่ข้อมูลดิบจนถึงการสร้าง Dashboard ได้อย่างเป็นลำดับ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3444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7A74"/>
                </a:solidFill>
                <a:latin typeface="Cordia New"/>
              </a:rPr>
              <a:t>1. อ่านและตรวจสอบ Dataset 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37360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68,398 records / 9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23444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38074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B6BBF"/>
                </a:solidFill>
                <a:latin typeface="Cordia New"/>
              </a:rPr>
              <a:t>2. Aggregate ข้อมูลเป็น Time Series รายเดือน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37360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49 monthly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6032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270662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F4EAC"/>
                </a:solidFill>
                <a:latin typeface="Cordia New"/>
              </a:rPr>
              <a:t>3. สร้าง Lag Features และแบ่ง Train 70% / Test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063239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time-order split, no shuffle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56032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270662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08429"/>
                </a:solidFill>
                <a:latin typeface="Cordia New"/>
              </a:rPr>
              <a:t>4. สร้างและเปรียบเทียบ Forecasting Models หลายแบบ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063239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Naïve, LR, Ridge, RF,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03250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69759"/>
                </a:solidFill>
                <a:latin typeface="Cordia New"/>
              </a:rPr>
              <a:t>5. เลือก Best Model และพยากรณ์เดือนถัดไป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389120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MAE ต่ำสุดเป็นเกณฑ์ Lab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3886200"/>
            <a:ext cx="5257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8" y="4032504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6. ส่งผลลัพธ์ไปสร้าง Dashboard ใน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389120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36F7A"/>
                </a:solidFill>
                <a:latin typeface="Cordia New"/>
              </a:rPr>
              <a:t>MAE chart + Actual vs Forecast + Forecast Card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Dataset ที่ใช้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ไฟล์รวมข้อมูลรายเดือนจาก DLT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7315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rdia New"/>
                        </a:rPr>
                        <a:t>คอลัมน์</a:t>
                      </a:r>
                    </a:p>
                  </a:txBody>
                  <a:tcPr>
                    <a:solidFill>
                      <a:srgbClr val="1B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rdia New"/>
                        </a:rPr>
                        <a:t>ตัวอย่าง</a:t>
                      </a:r>
                    </a:p>
                  </a:txBody>
                  <a:tcPr>
                    <a:solidFill>
                      <a:srgbClr val="1B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rdia New"/>
                        </a:rPr>
                        <a:t>บทบาทใน Lab</a:t>
                      </a:r>
                    </a:p>
                  </a:txBody>
                  <a:tcPr>
                    <a:solidFill>
                      <a:srgbClr val="1B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ปี พ.ศ.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2565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อ้างอิงปี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เดือน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มกราคม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อ้างอิงเดือน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ประเภทรถ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รถยนต์นั่งส่วนบุคคล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มิติข้อมูล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ยี่ห้อ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AUDI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มิติข้อมูล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รุ่น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A4 AV 45 TFSI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มิติข้อมูล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จำนวน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1, 15, 22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ค่าที่นำมารวม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Source_Year_BE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2565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สร้าง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Source_Month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สร้าง Date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Source_File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...csv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5303A"/>
                          </a:solidFill>
                          <a:latin typeface="Cordia New"/>
                        </a:rPr>
                        <a:t>ตรวจแหล่งไฟล์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92440" y="114300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17320"/>
            <a:ext cx="2971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ข้อมูลสำคัญ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1920240"/>
            <a:ext cx="2880360" cy="502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9601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7A74"/>
                </a:solidFill>
                <a:latin typeface="Cordia New"/>
              </a:rPr>
              <a:t>68,398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965960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5303A"/>
                </a:solidFill>
                <a:latin typeface="Cordia New"/>
              </a:rPr>
              <a:t>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2606040"/>
            <a:ext cx="2880360" cy="502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2651760"/>
            <a:ext cx="9601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B6BBF"/>
                </a:solidFill>
                <a:latin typeface="Cordia New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651760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5303A"/>
                </a:solidFill>
                <a:latin typeface="Cordia New"/>
              </a:rPr>
              <a:t>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3291840"/>
            <a:ext cx="2880360" cy="502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3337560"/>
            <a:ext cx="9601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F4EAC"/>
                </a:solidFill>
                <a:latin typeface="Cordia New"/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337560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5303A"/>
                </a:solidFill>
                <a:latin typeface="Cordia New"/>
              </a:rPr>
              <a:t>months found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3977639"/>
            <a:ext cx="2880360" cy="502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4023359"/>
            <a:ext cx="9601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69759"/>
                </a:solidFill>
                <a:latin typeface="Cordia New"/>
              </a:rPr>
              <a:t>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023359"/>
            <a:ext cx="16459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25303A"/>
                </a:solidFill>
                <a:latin typeface="Cordia New"/>
              </a:rPr>
              <a:t>UTF-8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Data Quality ที่พบก่อน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ต้องตัดสินใจก่อนสร้างโมเดล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5166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63039"/>
            <a:ext cx="4754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64545"/>
                </a:solidFill>
                <a:latin typeface="Cordia New"/>
              </a:rPr>
              <a:t>เดือนธันวาคม 2566 ขาดหาย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83664"/>
            <a:ext cx="4754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303A"/>
                </a:solidFill>
                <a:latin typeface="Cordia New"/>
              </a:rPr>
              <a:t>ตรวจพบ missing month = 2023-12-01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166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63039"/>
            <a:ext cx="4754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08429"/>
                </a:solidFill>
                <a:latin typeface="Cordia New"/>
              </a:rPr>
              <a:t>กุมภาพันธ์ 2569 ไม่ครบ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83664"/>
            <a:ext cx="4754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303A"/>
                </a:solidFill>
                <a:latin typeface="Cordia New"/>
              </a:rPr>
              <a:t>มีเพียง 18 คัน จาก 6 records จึงไม่ใช้เป็น Actual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5166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429000"/>
            <a:ext cx="4754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A74"/>
                </a:solidFill>
                <a:latin typeface="Cordia New"/>
              </a:rPr>
              <a:t>ช่วงที่ใช้ทำโมเดล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849624"/>
            <a:ext cx="4754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303A"/>
                </a:solidFill>
                <a:latin typeface="Cordia New"/>
              </a:rPr>
              <a:t>มกราคม 2567 – มกราคม 2569 = 25 เดือนต่อเนื่อง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166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429000"/>
            <a:ext cx="47548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B6BBF"/>
                </a:solidFill>
                <a:latin typeface="Cordia New"/>
              </a:rPr>
              <a:t>หลังสร้าง Lag1–Lag3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49624"/>
            <a:ext cx="47548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5303A"/>
                </a:solidFill>
                <a:latin typeface="Cordia New"/>
              </a:rPr>
              <a:t>เหลือ 22 observations สำหรับ 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376672"/>
            <a:ext cx="10469880" cy="594360"/>
          </a:xfrm>
          <a:prstGeom prst="roundRect">
            <a:avLst/>
          </a:prstGeom>
          <a:solidFill>
            <a:srgbClr val="FFF5E7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7" y="5486400"/>
            <a:ext cx="1025042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B334D"/>
                </a:solidFill>
                <a:latin typeface="Cordia New"/>
              </a:rPr>
              <a:t>หลักการ: ไม่เติมค่าที่หายแบบเดาสุ่ม และไม่ใช้เดือนที่ข้อมูลไม่ครบเป็น Ground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Workflow ทั้ง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ภาพรวมตั้งแต่ CSV ถึง Power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74"/>
                </a:solidFill>
                <a:latin typeface="Cordia New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Load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72184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7904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B6BBF"/>
                </a:solidFill>
                <a:latin typeface="Cordia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Aggregate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6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51176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C64545"/>
                </a:solidFill>
                <a:latin typeface="Cordia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Check Gaps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38728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84448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F4EAC"/>
                </a:solidFill>
                <a:latin typeface="Cordia New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Select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8429"/>
                </a:solidFill>
                <a:latin typeface="Cordia New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Lag1–Lag3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5272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50992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9688"/>
                </a:solidFill>
                <a:latin typeface="Cordia New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70/30 Split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38544" y="196596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4264" y="205740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69759"/>
                </a:solidFill>
                <a:latin typeface="Cordia New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2331720"/>
            <a:ext cx="105156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Train 5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54696" y="1965960"/>
            <a:ext cx="1143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0416" y="2057400"/>
            <a:ext cx="105156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B6BBF"/>
                </a:solidFill>
                <a:latin typeface="Cordia New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6" y="2331720"/>
            <a:ext cx="105156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Compare MAE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16568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F4EAC"/>
                </a:solidFill>
                <a:latin typeface="Cordia New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Forecast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196596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205740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8429"/>
                </a:solidFill>
                <a:latin typeface="Cordia New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31720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Export 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3246120"/>
            <a:ext cx="960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3337560"/>
            <a:ext cx="868680" cy="2194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69759"/>
                </a:solidFill>
                <a:latin typeface="Cordia New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611879"/>
            <a:ext cx="8686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303A"/>
                </a:solidFill>
                <a:latin typeface="Cordia New"/>
              </a:rPr>
              <a:t>Power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5074920"/>
            <a:ext cx="10104120" cy="749808"/>
          </a:xfrm>
          <a:prstGeom prst="roundRect">
            <a:avLst/>
          </a:prstGeom>
          <a:solidFill>
            <a:srgbClr val="FDEDED"/>
          </a:solidFill>
          <a:ln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61288" y="5184648"/>
            <a:ext cx="9884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64545"/>
                </a:solidFill>
                <a:latin typeface="Cordia New"/>
              </a:rPr>
              <a:t>ข้อควรพิจารณาที่สำคัญ: การแบ่งข้อมูลสำหรับ Forecasting ต้องรักษาลำดับเวลาและห้าม Shuffle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1060704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ordia New"/>
              </a:rPr>
              <a:t>Part 1 — Jupyter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148840"/>
            <a:ext cx="98755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2DEE8"/>
                </a:solidFill>
                <a:latin typeface="Cordia New"/>
              </a:rPr>
              <a:t>เตรียมข้อมูล สร้างโมเดล และพยากรณ์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3794760"/>
            <a:ext cx="1920240" cy="530352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192024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rdia New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6035040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ACDD8"/>
                </a:solidFill>
                <a:latin typeface="Cordia New"/>
              </a:rPr>
              <a:t>Vehicle Registration Forecasting in Thailand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 — สร้าง Jupyter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เพื่อจัดเตรียมสภาพแวดล้อมสำหรับการวิเคราะห์ข้อมูลด้วย Python และกำหนด Notebook สำหรับเก็บ Code ผลลัพธ์ และคำอธิบายตลอดการปฏิบัติการ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JUPYTER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69037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13.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7120"/>
            <a:ext cx="6903720" cy="44889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1115568"/>
            <a:ext cx="3977639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1417320"/>
            <a:ext cx="34290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ขั้นตอนการดำเนินการ</a:t>
            </a:r>
          </a:p>
        </p:txBody>
      </p:sp>
      <p:sp>
        <p:nvSpPr>
          <p:cNvPr id="13" name="Oval 12"/>
          <p:cNvSpPr/>
          <p:nvPr/>
        </p:nvSpPr>
        <p:spPr>
          <a:xfrm>
            <a:off x="7973568" y="207568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2461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New → Python 3 (ipykernel)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278892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2679191"/>
            <a:ext cx="32461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ตั้งชื่อ DLT_Vehicle_Registration_Forecasting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3502152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3392424"/>
            <a:ext cx="32461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รัน Cell ผ่านเมนู Run → Run Selected Cell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4215384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4105656"/>
            <a:ext cx="32461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สามารถใช้แป้นลัด Shift + Enter เพื่อรัน Cell ได้ทั้งระบบ Windows และ macOS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2 — อ่านไฟล์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เพื่อนำข้อมูลรถจดทะเบียนเข้าสู่ pandas DataFrame อย่างถูกต้อง ลดความผิดพลาดจากตำแหน่งไฟล์ และตรวจสอบการอ่านภาษาไทยด้วย UTF-8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JUPYTER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6903720" cy="530352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207007"/>
            <a:ext cx="657453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Code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99616"/>
            <a:ext cx="6574536" cy="479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import pandas as pd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from tkinter import Tk, filedialog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root = Tk()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root.withdraw()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root.attributes('-topmost', True)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file_path = filedialog.askopenfilename(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title='เลือก Dataset รถจดทะเบียน',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filetypes=[('CSV Files','*.csv')]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root.destroy()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df = pd.read_csv(file_path, encoding='utf-8-sig')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print('จำนวน Records:', len(df))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print('จำนวน Columns:', len(df.columns))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display(df.head())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097280"/>
            <a:ext cx="3977639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389888"/>
            <a:ext cx="34290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ไฟล์ข้อมูลที่ใช้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938528"/>
            <a:ext cx="340156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7A74"/>
                </a:solidFill>
                <a:latin typeface="Cordia New"/>
              </a:rPr>
              <a:t>DLT_First_Registration_
Monthly_Original_Combined.csv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017520"/>
            <a:ext cx="3383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334D"/>
                </a:solidFill>
                <a:latin typeface="Cordia New"/>
              </a:rPr>
              <a:t>ผลลัพธ์ที่คาดหวัง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3602736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3493008"/>
            <a:ext cx="3154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68,398 records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4059936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3950208"/>
            <a:ext cx="3154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9 columns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4517136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4407408"/>
            <a:ext cx="3154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ข้อความภาษาไทยต้องแสดงผลได้ถูกต้อง</a:t>
            </a:r>
          </a:p>
        </p:txBody>
      </p:sp>
      <p:sp>
        <p:nvSpPr>
          <p:cNvPr id="22" name="Oval 21"/>
          <p:cNvSpPr/>
          <p:nvPr/>
        </p:nvSpPr>
        <p:spPr>
          <a:xfrm>
            <a:off x="7973568" y="4974336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4864608"/>
            <a:ext cx="3154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ต้องแสดงตัวอย่างข้อมูล 5 แถวแรกได้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2 — ตรวจผลการอ่าน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เพื่อยืนยันว่าข้อมูลถูกนำเข้าอย่างครบถ้วน โดยตรวจสอบจำนวน Records จำนวน Columns และตัวอย่างข้อมูล ก่อนดำเนินการเตรียมข้อมูลในขั้นตอนถัดไป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JUPYTER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8181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17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291"/>
            <a:ext cx="7818120" cy="50834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0" y="1097280"/>
            <a:ext cx="3063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1392" y="1426464"/>
            <a:ext cx="25603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ตรวจ 3 จุด</a:t>
            </a:r>
          </a:p>
        </p:txBody>
      </p:sp>
      <p:sp>
        <p:nvSpPr>
          <p:cNvPr id="13" name="Oval 12"/>
          <p:cNvSpPr/>
          <p:nvPr/>
        </p:nvSpPr>
        <p:spPr>
          <a:xfrm>
            <a:off x="8887968" y="21214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011680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Records = 68,398</a:t>
            </a:r>
          </a:p>
        </p:txBody>
      </p:sp>
      <p:sp>
        <p:nvSpPr>
          <p:cNvPr id="15" name="Oval 14"/>
          <p:cNvSpPr/>
          <p:nvPr/>
        </p:nvSpPr>
        <p:spPr>
          <a:xfrm>
            <a:off x="8887968" y="2779776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2670048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Columns = 9</a:t>
            </a:r>
          </a:p>
        </p:txBody>
      </p:sp>
      <p:sp>
        <p:nvSpPr>
          <p:cNvPr id="17" name="Oval 16"/>
          <p:cNvSpPr/>
          <p:nvPr/>
        </p:nvSpPr>
        <p:spPr>
          <a:xfrm>
            <a:off x="8887968" y="3438144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3328416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ชื่อไทยไม่เพี้ยน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3104" y="4251960"/>
            <a:ext cx="2606040" cy="1325880"/>
          </a:xfrm>
          <a:prstGeom prst="roundRect">
            <a:avLst/>
          </a:prstGeom>
          <a:solidFill>
            <a:srgbClr val="E5F6F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4361688"/>
            <a:ext cx="2386584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07A74"/>
                </a:solidFill>
                <a:latin typeface="Cordia New"/>
              </a:rPr>
              <a:t>ผ่านแล้วจึงไป Aggregate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3 — Aggregate เป็นยอดจดทะเบียนรายเดือน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เพื่อแปลงข้อมูลระดับรายการให้เป็นอนุกรมเวลารายเดือน โดยรวมจำนวนรถจดทะเบียนและนับจำนวน Records ของแต่ละเดือนสำหรับใช้ตรวจสอบความครบถ้วน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6080760" cy="429768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298448"/>
            <a:ext cx="57515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Aggregate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91056"/>
            <a:ext cx="5751576" cy="3785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monthly = 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df.groupby(['Source_Year_BE','Source_Month'], as_index=False)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  .agg(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      TotalRegistrations=('จำนวน','sum'),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      Records=('จำนวน','size')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  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  .sort_values(['Source_Year_BE','Source_Month'])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print('จำนวนเดือนทั้งหมด:', len(monthly))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display(monthly)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188720"/>
            <a:ext cx="4526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1536192"/>
            <a:ext cx="39319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หลักการดำเนินการ</a:t>
            </a:r>
          </a:p>
        </p:txBody>
      </p:sp>
      <p:sp>
        <p:nvSpPr>
          <p:cNvPr id="14" name="Oval 13"/>
          <p:cNvSpPr/>
          <p:nvPr/>
        </p:nvSpPr>
        <p:spPr>
          <a:xfrm>
            <a:off x="7296912" y="219456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7224" y="2084831"/>
            <a:ext cx="3749039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Group by = Source_Year_BE + Source_Month</a:t>
            </a:r>
          </a:p>
        </p:txBody>
      </p:sp>
      <p:sp>
        <p:nvSpPr>
          <p:cNvPr id="16" name="Oval 15"/>
          <p:cNvSpPr/>
          <p:nvPr/>
        </p:nvSpPr>
        <p:spPr>
          <a:xfrm>
            <a:off x="7296912" y="280720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7224" y="2697479"/>
            <a:ext cx="3749039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Sum = จำนวน → TotalRegistrations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96912" y="3419856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4" y="3310128"/>
            <a:ext cx="3749039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นับจำนวนแถวเป็น Records เพื่อใช้ตรวจสอบความครบถ้วนของข้อมูลในแต่ละเดือน</a:t>
            </a:r>
          </a:p>
        </p:txBody>
      </p:sp>
      <p:sp>
        <p:nvSpPr>
          <p:cNvPr id="20" name="Oval 19"/>
          <p:cNvSpPr/>
          <p:nvPr/>
        </p:nvSpPr>
        <p:spPr>
          <a:xfrm>
            <a:off x="7296912" y="4032504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07224" y="3922776"/>
            <a:ext cx="3749039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เรียงข้อมูลตามลำดับเวลา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687568"/>
            <a:ext cx="10104120" cy="502920"/>
          </a:xfrm>
          <a:prstGeom prst="roundRect">
            <a:avLst/>
          </a:prstGeom>
          <a:solidFill>
            <a:srgbClr val="E7EFFC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797296"/>
            <a:ext cx="988466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B334D"/>
                </a:solidFill>
                <a:latin typeface="Cordia New"/>
              </a:rPr>
              <a:t>ผลลัพธ์ที่คาดหวัง: พบข้อมูลรายเดือนทั้งหมด 49 เดือน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3 — ผล 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เพื่อตรวจสอบว่าการรวมข้อมูลรายเดือนให้ผลถูกต้องทั้งยอด TotalRegistrations และจำนวน Records ก่อนนำข้อมูลไปตรวจสอบความต่อเนื่องของเวลา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8181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19.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291"/>
            <a:ext cx="7818120" cy="50834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13648" y="1097280"/>
            <a:ext cx="304495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87968" y="1417320"/>
            <a:ext cx="25146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ตัวอย่าง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1938528"/>
            <a:ext cx="2606040" cy="11704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A74"/>
                </a:solidFill>
                <a:latin typeface="Cordia New"/>
              </a:rPr>
              <a:t>ม.ค. 2565
227,414 คัน
1,360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3401568"/>
            <a:ext cx="2606040" cy="12344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B6BBF"/>
                </a:solidFill>
                <a:latin typeface="Cordia New"/>
              </a:rPr>
              <a:t>มิ.ย. 2565
257,971 คัน
1,493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4919472"/>
            <a:ext cx="2606040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F4EAC"/>
                </a:solidFill>
                <a:latin typeface="Cordia New"/>
              </a:rPr>
              <a:t>จำนวนเดือนทั้งหมด =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4 — ตรวจเดือนที่ขาดหาย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เพื่อตรวจสอบความต่อเนื่องของอนุกรมเวลา ระบุเดือนที่ขาดหายหรือมีข้อมูลไม่ครบ และป้องกันการใช้ข้อมูลที่ไม่เหมาะสมเป็นค่าจริงสำหรับการสร้างโมเดล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15568"/>
            <a:ext cx="6583680" cy="525780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225295"/>
            <a:ext cx="62544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Check Continuity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17904"/>
            <a:ext cx="6254496" cy="4745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monthly['Date'] = pd.to_datetime(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dict(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    year=monthly['Source_Year_BE'] - 543,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    month=monthly['Source_Month'],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    day=1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all_months = pd.date_range(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monthly['Date'].min(),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monthly['Date'].max(),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freq='MS'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missing = all_months.difference(monthly['Date'])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print('เดือนที่ขาดหาย:')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print(missing)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display(monthly.tail(12))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115568"/>
            <a:ext cx="4114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1426464"/>
            <a:ext cx="35478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ประเด็นที่ต้องตรวจสอบ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2157984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2048256"/>
            <a:ext cx="3401568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ตรวจสอบว่ามีเดือนที่ขาดหายจากลำดับเวลาหรือไม่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2916936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2807208"/>
            <a:ext cx="3401568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ตรวจสอบว่า Records ของเดือนล่าสุดมีจำนวนผิดปกติหรือไม่</a:t>
            </a:r>
          </a:p>
        </p:txBody>
      </p:sp>
      <p:sp>
        <p:nvSpPr>
          <p:cNvPr id="18" name="Oval 17"/>
          <p:cNvSpPr/>
          <p:nvPr/>
        </p:nvSpPr>
        <p:spPr>
          <a:xfrm>
            <a:off x="7726679" y="367588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992" y="3566160"/>
            <a:ext cx="3401568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ระบุเดือนที่ไม่เหมาะสมและควรตัดออกก่อนสร้างโมเดล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4434840"/>
            <a:ext cx="3474720" cy="1261872"/>
          </a:xfrm>
          <a:prstGeom prst="roundRect">
            <a:avLst/>
          </a:prstGeom>
          <a:solidFill>
            <a:srgbClr val="FDEDED"/>
          </a:solidFill>
          <a:ln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4544568"/>
            <a:ext cx="3255263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C64545"/>
                </a:solidFill>
                <a:latin typeface="Cordia New"/>
              </a:rPr>
              <a:t>ไม่ควรนำข้อมูลที่ขาดหรือไม่ครบมาใช้สร้างโมเดลโดยไม่ตรวจสอบคุณภาพข้อมูลก่อน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4 — ผลการตรวจ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เพื่อสรุปปัญหาคุณภาพข้อมูลที่พบ และกำหนดอย่างชัดเจนว่าเดือนใดจะไม่นำมาใช้เป็น Ground Truth ในการประเมินและพยากรณ์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8181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21.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291"/>
            <a:ext cx="7818120" cy="50834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0" y="1097280"/>
            <a:ext cx="3063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96528" y="1444752"/>
            <a:ext cx="2670048" cy="1325880"/>
          </a:xfrm>
          <a:prstGeom prst="roundRect">
            <a:avLst/>
          </a:prstGeom>
          <a:solidFill>
            <a:srgbClr val="FDEDED"/>
          </a:solidFill>
          <a:ln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06255" y="1554480"/>
            <a:ext cx="2450591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C64545"/>
                </a:solidFill>
                <a:latin typeface="Cordia New"/>
              </a:rPr>
              <a:t>Missing</a:t>
            </a:r>
          </a:p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64545"/>
                </a:solidFill>
                <a:latin typeface="Cordia New"/>
              </a:rPr>
              <a:t>ธ.ค. 2566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3063240"/>
            <a:ext cx="2670048" cy="1481328"/>
          </a:xfrm>
          <a:prstGeom prst="roundRect">
            <a:avLst/>
          </a:prstGeom>
          <a:solidFill>
            <a:srgbClr val="FFF5E7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06255" y="3172968"/>
            <a:ext cx="2450591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E08429"/>
                </a:solidFill>
                <a:latin typeface="Cordia New"/>
              </a:rPr>
              <a:t>Partial month</a:t>
            </a:r>
          </a:p>
          <a:p>
            <a:pPr algn="ctr">
              <a:spcAft>
                <a:spcPts val="300"/>
              </a:spcAft>
            </a:pPr>
            <a:r>
              <a:rPr sz="1800" b="1">
                <a:solidFill>
                  <a:srgbClr val="E08429"/>
                </a:solidFill>
                <a:latin typeface="Cordia New"/>
              </a:rPr>
              <a:t>ก.พ. 2569 = 18 คัน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25303A"/>
                </a:solidFill>
                <a:latin typeface="Cordia New"/>
              </a:rPr>
              <a:t>6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4983480"/>
            <a:ext cx="2670048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334D"/>
                </a:solidFill>
                <a:latin typeface="Cordia New"/>
              </a:rPr>
              <a:t>ดังนั้นไม่ใช้ ก.พ. 2569 เป็น Actual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5 — เลือกช่วงข้อมูลต่อเนื่องสำหรับ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เพื่อเลือกช่วงเวลาที่ข้อมูลต่อเนื่องและสมบูรณ์สำหรับการสร้างโมเดล ลดผลกระทบจาก Missing Month และ Partial Month ที่อาจทำให้ผลประเมินคลาดเคลื่อน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98448"/>
            <a:ext cx="6537960" cy="420624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408176"/>
            <a:ext cx="62087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Select Continuous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00784"/>
            <a:ext cx="6208776" cy="3694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forecast_data = monthly[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(monthly['Date'] &gt;= '2024-01-01') &amp;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(monthly['Date'] &lt;= '2026-01-01')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].copy()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forecast_data = forecast_data.sort_values('Date')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print('จำนวนเดือนที่ใช้ Forecast:', len(forecast_data))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display(forecast_data[['Date','TotalRegistrations','Records']])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98448"/>
            <a:ext cx="4114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7536" y="1627632"/>
            <a:ext cx="3520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เหตุผลในการดำเนินการ</a:t>
            </a:r>
          </a:p>
        </p:txBody>
      </p:sp>
      <p:sp>
        <p:nvSpPr>
          <p:cNvPr id="14" name="Oval 13"/>
          <p:cNvSpPr/>
          <p:nvPr/>
        </p:nvSpPr>
        <p:spPr>
          <a:xfrm>
            <a:off x="7699248" y="2331720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2221992"/>
            <a:ext cx="345643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หลีกเลี่ยงช่วงที่มีข้อมูลขาดหาย ได้แก่ ธันวาคม 2566</a:t>
            </a:r>
          </a:p>
        </p:txBody>
      </p:sp>
      <p:sp>
        <p:nvSpPr>
          <p:cNvPr id="16" name="Oval 15"/>
          <p:cNvSpPr/>
          <p:nvPr/>
        </p:nvSpPr>
        <p:spPr>
          <a:xfrm>
            <a:off x="7699248" y="3026664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2916936"/>
            <a:ext cx="345643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ไม่นำกุมภาพันธ์ 2569 มาใช้เป็นค่าจริง เนื่องจากข้อมูลยังไม่ครบถ้วน</a:t>
            </a:r>
          </a:p>
        </p:txBody>
      </p:sp>
      <p:sp>
        <p:nvSpPr>
          <p:cNvPr id="18" name="Oval 17"/>
          <p:cNvSpPr/>
          <p:nvPr/>
        </p:nvSpPr>
        <p:spPr>
          <a:xfrm>
            <a:off x="7699248" y="37216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3611880"/>
            <a:ext cx="345643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ได้อนุกรมเวลาที่ต่อเนื่องจำนวน 25 เดือน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779008"/>
            <a:ext cx="9829800" cy="457200"/>
          </a:xfrm>
          <a:prstGeom prst="roundRect">
            <a:avLst/>
          </a:prstGeom>
          <a:solidFill>
            <a:srgbClr val="E7EFFC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5888736"/>
            <a:ext cx="9610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B334D"/>
                </a:solidFill>
                <a:latin typeface="Cordia New"/>
              </a:rPr>
              <a:t>ข้อมูล 25 เดือนยังเป็นตัวอย่างขนาดเล็ก จึงใช้เพื่อการเรียนการสอนและสาธิตกระบวนการเป็นหลัก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5 — ผลลัพธ์ช่วงข้อมูลที่ใช้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เพื่อยืนยันช่วงเวลาและจำนวนเดือนที่นำไปใช้จริงในการสร้างโมเดล และตรวจสอบว่าข้อมูลเรียงตามลำดับเวลาอย่างต่อเนื่องก่อนสร้าง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275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22.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28" y="1097280"/>
            <a:ext cx="8156502" cy="5303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34272" y="1097280"/>
            <a:ext cx="262432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508760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ช่วงข้อมูล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121408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7A74"/>
                </a:solidFill>
                <a:latin typeface="Cordia New"/>
              </a:rPr>
              <a:t>2024-01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816352"/>
            <a:ext cx="21945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636F7A"/>
                </a:solidFill>
                <a:latin typeface="Cordia New"/>
              </a:rPr>
              <a:t>ถึง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27355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B6BBF"/>
                </a:solidFill>
                <a:latin typeface="Cordia New"/>
              </a:rPr>
              <a:t>2026-01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4206240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6F4EAC"/>
                </a:solidFill>
                <a:latin typeface="Cordia New"/>
              </a:rPr>
              <a:t>25 เดือน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6 — ดูแนวโน้ม Time Series ก่อนสร้างโมเดล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เพื่อสำรวจแนวโน้ม ความผันผวน จุดสูงหรือต่ำผิดปกติของข้อมูลรายเดือน และทำความเข้าใจพฤติกรรมของอนุกรมเวลาก่อนสร้างโมเดลพยากรณ์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15568"/>
            <a:ext cx="4754880" cy="521208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225295"/>
            <a:ext cx="442569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Trend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517904"/>
            <a:ext cx="4425696" cy="4700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import matplotlib.pyplot as plt</a:t>
            </a:r>
          </a:p>
          <a:p>
            <a:pPr>
              <a:spcAft>
                <a:spcPts val="0"/>
              </a:spcAft>
            </a:pPr>
            <a:endParaRPr sz="13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plt.figure(figsize=(14,5))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plt.plot(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forecast_data['Date'],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forecast_data['TotalRegistrations'],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    marker='o', linewidth=2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plt.title('Monthly Vehicle Registrations in Thailand')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plt.xlabel('Month')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plt.ylabel('Number of Registrations')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plt.xticks(rotation=45)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plt.grid(True)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plt.tight_layout()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CF0F3"/>
                </a:solidFill>
                <a:latin typeface="Cordia New"/>
              </a:rPr>
              <a:t>plt.show()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115568"/>
            <a:ext cx="6172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shot 2569-09-25 at 02.23.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14964"/>
            <a:ext cx="6172200" cy="40132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7 — สร้าง Lag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เพื่อสร้างตัวแปรย้อนหลัง 1–3 เดือนให้โมเดลใช้ข้อมูลในอดีตเพื่อทำนายค่าปัจจุบัน โดยต้องไม่ใช้ข้อมูลจากอนาคตซึ่งจะทำให้เกิด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188720"/>
            <a:ext cx="6263640" cy="452628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298448"/>
            <a:ext cx="5934455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Lag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591056"/>
            <a:ext cx="5934455" cy="40142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model_data = forecast_data[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['Date','TotalRegistrations']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].copy()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model_data['Lag1'] = model_data['TotalRegistrations'].shift(1)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model_data['Lag2'] = model_data['TotalRegistrations'].shift(2)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model_data['Lag3'] = model_data['TotalRegistrations'].shift(3)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model_data = model_data.dropna().reset_index(drop=True)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print('จำนวนข้อมูลสำหรับ Modeling:', len(model_data))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display(model_data.head())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1188720"/>
            <a:ext cx="4389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1536192"/>
            <a:ext cx="380390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ความหมายของตัวแปร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06640" y="2057400"/>
          <a:ext cx="3794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Feature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ความหมาย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Lag1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เดือนก่อนหน้า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Lag2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ย้อนหลัง 2 เดือน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Lag3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ย้อนหลัง 3 เดือน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424927" y="4800600"/>
            <a:ext cx="373075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F4EAC"/>
                </a:solidFill>
                <a:latin typeface="Cordia New"/>
              </a:rPr>
              <a:t>25 เดือน − 3 lag = 22 observations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7 — ผล Lag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เพื่อตรวจสอบว่าค่า Lag1, Lag2 และ Lag3 เลื่อนตามลำดับเวลาอย่างถูกต้อง และยืนยันว่าแต่ละแถวใช้เฉพาะข้อมูลที่เกิดขึ้นก่อนเดือนเป้าหมาย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0010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27.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7835"/>
            <a:ext cx="8001000" cy="52024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59952" y="1097280"/>
            <a:ext cx="289864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1417320"/>
            <a:ext cx="239572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ตัวอย่าง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965960"/>
            <a:ext cx="2542032" cy="1280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7A74"/>
                </a:solidFill>
                <a:latin typeface="Cordia New"/>
              </a:rPr>
              <a:t>เม.ย. 2024
Target = 181,314
Lag1 = 214,311
Lag2 = 208,918
Lag3 = 239,866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3840480"/>
            <a:ext cx="2542032" cy="1143000"/>
          </a:xfrm>
          <a:prstGeom prst="roundRect">
            <a:avLst/>
          </a:prstGeom>
          <a:solidFill>
            <a:srgbClr val="FDEDED"/>
          </a:solidFill>
          <a:ln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59" y="3950208"/>
            <a:ext cx="232257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C64545"/>
                </a:solidFill>
                <a:latin typeface="Cordia New"/>
              </a:rPr>
              <a:t>ตรวจให้แน่ใจว่าไม่มีข้อมูลอนาคตหลุดเข้ามา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8 — แบ่ง Train 70% / Test 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เพื่อแบ่งข้อมูลสำหรับฝึกและทดสอบโมเดลตามลำดับเวลา โดยใช้ข้อมูลเก่าเป็น Training และข้อมูลใหม่เป็น Testing เพื่อจำลองการพยากรณ์จริงและหลีกเลี่ยง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6217920" cy="466344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298448"/>
            <a:ext cx="588873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Time-based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591056"/>
            <a:ext cx="5888736" cy="41513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features = ['Lag1','Lag2','Lag3']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target = 'TotalRegistrations'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split_index = int(len(model_data) * 0.70)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train = model_data.iloc[:split_index].copy()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test  = model_data.iloc[split_index:].copy()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X_train = train[features]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y_train = train[target]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X_test  = test[features]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y_test  = test[target]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print('Training:', len(train), 'เดือน')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print('Testing:', len(test), 'เดือน')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188720"/>
            <a:ext cx="4434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1517904"/>
            <a:ext cx="380390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ผลที่คาดหวัง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2103120"/>
            <a:ext cx="3749039" cy="1024128"/>
          </a:xfrm>
          <a:prstGeom prst="roundRect">
            <a:avLst/>
          </a:prstGeom>
          <a:solidFill>
            <a:srgbClr val="E5F6F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212848"/>
            <a:ext cx="3529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007A74"/>
                </a:solidFill>
                <a:latin typeface="Cordia New"/>
              </a:rPr>
              <a:t>TRAIN = 15 เดือน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401568"/>
            <a:ext cx="3749039" cy="1024128"/>
          </a:xfrm>
          <a:prstGeom prst="roundRect">
            <a:avLst/>
          </a:prstGeom>
          <a:solidFill>
            <a:srgbClr val="E7EFFC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3511296"/>
            <a:ext cx="3529583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>
                <a:solidFill>
                  <a:srgbClr val="2B6BBF"/>
                </a:solidFill>
                <a:latin typeface="Cordia New"/>
              </a:rPr>
              <a:t>TEST = 7 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4882896"/>
            <a:ext cx="37033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64545"/>
                </a:solidFill>
                <a:latin typeface="Cordia New"/>
              </a:rPr>
              <a:t>หลักการ Forecasting: ใช้ข้อมูลในอดีตเป็น Training Set และใช้ข้อมูลช่วงหลังเป็น Test 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8 — ผลการแบ่งข้อมูล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เพื่อยืนยันจำนวนและช่วงเวลาของ Training Set และ Test Set ว่าถูกแบ่งแบบ 70/30 โดยไม่ Shuffle และไม่มีข้อมูลในอนาคตย้อนกลับไปอยู่ในชุดฝึก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275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28.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28" y="1097280"/>
            <a:ext cx="8156502" cy="5303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34272" y="1097280"/>
            <a:ext cx="262432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389888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07A74"/>
                </a:solidFill>
                <a:latin typeface="Cordia New"/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847088"/>
            <a:ext cx="228600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5303A"/>
                </a:solidFill>
                <a:latin typeface="Cordia New"/>
              </a:rPr>
              <a:t>15 เดือน
Apr 2024 – Jun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54096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B6BBF"/>
                </a:solidFill>
                <a:latin typeface="Cordia New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11296"/>
            <a:ext cx="228600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5303A"/>
                </a:solidFill>
                <a:latin typeface="Cordia New"/>
              </a:rPr>
              <a:t>7 เดือน
Jul 2025 – Jan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828032"/>
            <a:ext cx="228600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6F4EAC"/>
                </a:solidFill>
                <a:latin typeface="Cordia New"/>
              </a:rPr>
              <a:t>70% / 30%
No Shuffle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9 — สร้างโมเดลหลายแบบ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เพื่อเปรียบเทียบ Baseline และ Machine Learning หลายวิธีภายใต้ Test Set เดียวกัน ทำให้สามารถประเมินความเหมาะสมของแต่ละโมเดลด้วยเกณฑ์เดียวกัน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084831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9344"/>
            <a:ext cx="181051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A74"/>
                </a:solidFill>
                <a:latin typeface="Cordia New"/>
              </a:rPr>
              <a:t>Naïve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87168"/>
            <a:ext cx="1755648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ใช้ค่าจากเดือนก่อนหน้าเป็นค่าพยากรณ์ของเดือนปัจจุบัน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858768"/>
            <a:ext cx="1115568" cy="4114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858768"/>
            <a:ext cx="1115568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74"/>
                </a:solidFill>
                <a:latin typeface="Cordia New"/>
              </a:rPr>
              <a:t>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325880"/>
            <a:ext cx="2084831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44368" y="1609344"/>
            <a:ext cx="181051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B6BBF"/>
                </a:solidFill>
                <a:latin typeface="Cordia New"/>
              </a:rPr>
              <a:t>Linear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87168"/>
            <a:ext cx="1755648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สร้างแบบจำลองจากความสัมพันธ์เชิงเส้นระหว่างตัวแปร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858768"/>
            <a:ext cx="1115568" cy="4114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3858768"/>
            <a:ext cx="1115568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B6BBF"/>
                </a:solidFill>
                <a:latin typeface="Cordia New"/>
              </a:rPr>
              <a:t>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325880"/>
            <a:ext cx="2084831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48656" y="1609344"/>
            <a:ext cx="181051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6F4EAC"/>
                </a:solidFill>
                <a:latin typeface="Cordia New"/>
              </a:rPr>
              <a:t>Ridge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487168"/>
            <a:ext cx="1755648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แบบจำลองเชิงเส้นที่เพิ่ม Regularization เพื่อลดความซับซ้อนของโมเดล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6128" y="3858768"/>
            <a:ext cx="1115568" cy="4114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96128" y="3858768"/>
            <a:ext cx="1115568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F4EAC"/>
                </a:solidFill>
                <a:latin typeface="Cordia New"/>
              </a:rPr>
              <a:t>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4" y="1325880"/>
            <a:ext cx="2084831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52944" y="1609344"/>
            <a:ext cx="181051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9759"/>
                </a:solidFill>
                <a:latin typeface="Cordia New"/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487168"/>
            <a:ext cx="1755648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รวมผลจากต้นไม้ตัดสินใจหลายต้นเพื่อลดความผันผวนของโมเดล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3858768"/>
            <a:ext cx="1115568" cy="4114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0416" y="3858768"/>
            <a:ext cx="1115568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69759"/>
                </a:solidFill>
                <a:latin typeface="Cordia New"/>
              </a:rPr>
              <a:t>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1325880"/>
            <a:ext cx="2084831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57232" y="1609344"/>
            <a:ext cx="1810512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08429"/>
                </a:solidFill>
                <a:latin typeface="Cordia New"/>
              </a:rPr>
              <a:t>Gradient Boosting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487168"/>
            <a:ext cx="1755648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สร้างต้นไม้ต่อเนื่องเพื่อแก้ไขข้อผิดพลาดของโมเดลก่อนหน้า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04704" y="3858768"/>
            <a:ext cx="1115568" cy="4114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04704" y="3858768"/>
            <a:ext cx="1115568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08429"/>
                </a:solidFill>
                <a:latin typeface="Cordia New"/>
              </a:rPr>
              <a:t>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212080"/>
            <a:ext cx="10104120" cy="658368"/>
          </a:xfrm>
          <a:prstGeom prst="roundRect">
            <a:avLst/>
          </a:prstGeom>
          <a:solidFill>
            <a:srgbClr val="E7EFFC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61288" y="5321808"/>
            <a:ext cx="98846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B334D"/>
                </a:solidFill>
                <a:latin typeface="Cordia New"/>
              </a:rPr>
              <a:t>Metric: MAE ↓, RMSE ↓, R² 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9 — Code สร้างโมเดล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เพื่อกำหนด Library โมเดล และพารามิเตอร์ที่จำเป็นให้ครบถ้วนก่อนฝึกโมเดล รวมทั้งกำหนด random_state เพื่อให้ผลการทดลองสามารถทำซ้ำได้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33856"/>
            <a:ext cx="7543800" cy="5248656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43584"/>
            <a:ext cx="721461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Model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7214616" cy="4736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ECF0F3"/>
                </a:solidFill>
                <a:latin typeface="Cordia New"/>
              </a:rPr>
              <a:t>import numpy as np
import pandas as pd
from sklearn.linear_model import LinearRegression, Ridge
from sklearn.ensemble import RandomForestRegressor, GradientBoostingRegressor
from sklearn.metrics import mean_absolute_error, mean_squared_error, r2_score
models = {
    'Linear Regression': LinearRegression(),
    'Ridge Regression': Ridge(alpha=1.0),
    'Random Forest': RandomForestRegressor(
        n_estimators=100, max_depth=3, random_state=42
    ),
    'Gradient Boosting': GradientBoostingRegressor(
        n_estimators=100, learning_rate=0.05,
        max_depth=2, random_state=42
    )
}
results = []
predictions = {}</a:t>
            </a:r>
          </a:p>
          <a:p>
            <a:pPr>
              <a:spcAft>
                <a:spcPts val="0"/>
              </a:spcAft>
            </a:pPr>
            <a:endParaRPr sz="125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5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endParaRPr sz="1280" b="0">
              <a:solidFill>
                <a:srgbClr val="ECF0F3"/>
              </a:solidFill>
              <a:latin typeface="Cordia New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94192" y="1133856"/>
            <a:ext cx="3127248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0224" y="1444752"/>
            <a:ext cx="2615184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องค์ประกอบที่จำเป็น</a:t>
            </a:r>
          </a:p>
        </p:txBody>
      </p:sp>
      <p:sp>
        <p:nvSpPr>
          <p:cNvPr id="14" name="Oval 13"/>
          <p:cNvSpPr/>
          <p:nvPr/>
        </p:nvSpPr>
        <p:spPr>
          <a:xfrm>
            <a:off x="8650224" y="21214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0536" y="2011680"/>
            <a:ext cx="25146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t>import numpy as np</a:t>
            </a:r>
          </a:p>
        </p:txBody>
      </p:sp>
      <p:sp>
        <p:nvSpPr>
          <p:cNvPr id="16" name="Oval 15"/>
          <p:cNvSpPr/>
          <p:nvPr/>
        </p:nvSpPr>
        <p:spPr>
          <a:xfrm>
            <a:off x="8650224" y="276148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0536" y="2651760"/>
            <a:ext cx="25146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t>import pandas as pd</a:t>
            </a:r>
          </a:p>
        </p:txBody>
      </p:sp>
      <p:sp>
        <p:nvSpPr>
          <p:cNvPr id="18" name="Oval 17"/>
          <p:cNvSpPr/>
          <p:nvPr/>
        </p:nvSpPr>
        <p:spPr>
          <a:xfrm>
            <a:off x="8650224" y="3401568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3291840"/>
            <a:ext cx="25146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t>random_state = 42</a:t>
            </a:r>
          </a:p>
        </p:txBody>
      </p:sp>
      <p:sp>
        <p:nvSpPr>
          <p:cNvPr id="20" name="Oval 19"/>
          <p:cNvSpPr/>
          <p:nvPr/>
        </p:nvSpPr>
        <p:spPr>
          <a:xfrm>
            <a:off x="8650224" y="4041648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0536" y="3931920"/>
            <a:ext cx="25146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t>results = []</a:t>
            </a:r>
          </a:p>
          <a:p>
            <a:r>
              <a:t>predictions = {}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9 — Train และ Evaluate ทุกโมเดล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เพื่อฝึกโมเดลแต่ละวิธีบน Training Set ทำนาย Test Set และคำนวณ MAE, RMSE และ R² ก่อนจัดอันดับผลเพื่อเลือกโมเดลที่เหมาะสมที่สุด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7909560" cy="5358384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88719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Train → Predict →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7580376" cy="4846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# Naive Forecast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naive_pred = X_test['Lag1'].values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results.append({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'Model':'Naive Forecast',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'MAE': mean_absolute_error(y_test, naive_pred),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'RMSE': np.sqrt(mean_squared_error(y_test, naive_pred)),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'R2': r2_score(y_test, naive_pred)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})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predictions['Naive Forecast'] = naive_pred</a:t>
            </a:r>
          </a:p>
          <a:p>
            <a:pPr>
              <a:spcAft>
                <a:spcPts val="0"/>
              </a:spcAft>
            </a:pPr>
            <a:endParaRPr sz="11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# Machine Learning Models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for name, model in models.items():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model.fit(X_train, y_train)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y_pred = model.predict(X_test)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predictions[name] = y_pred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results.append({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    'Model': name,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    'MAE': mean_absolute_error(y_test, y_pred),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    'RMSE': np.sqrt(mean_squared_error(y_test, y_pred)),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    'R2': r2_score(y_test, y_pred)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    })</a:t>
            </a:r>
          </a:p>
          <a:p>
            <a:pPr>
              <a:spcAft>
                <a:spcPts val="0"/>
              </a:spcAft>
            </a:pPr>
            <a:endParaRPr sz="118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comparison = pd.DataFrame(results).sort_values('MAE').reset_index(drop=True)</a:t>
            </a:r>
          </a:p>
          <a:p>
            <a:pPr>
              <a:spcAft>
                <a:spcPts val="0"/>
              </a:spcAft>
            </a:pPr>
            <a:r>
              <a:rPr sz="1180" b="0">
                <a:solidFill>
                  <a:srgbClr val="ECF0F3"/>
                </a:solidFill>
                <a:latin typeface="Cordia New"/>
              </a:rPr>
              <a:t>display(comparison.round(4))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78992"/>
            <a:ext cx="2834640" cy="5358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389888"/>
            <a:ext cx="23317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หลักเกณฑ์การประเมิน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1993392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MAE ยิ่งต่ำยิ่งแสดงว่าความคลาดเคลื่อนเฉลี่ยยิ่งน้อย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054096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RMSE ยิ่งต่ำยิ่งแสดงว่าความคลาดเคลื่อนขนาดใหญ่มีน้อยลง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4114800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R² ที่สูงกว่าบ่งชี้ว่าโมเดลอธิบายความแปรปรวนของข้อมูลได้มากกว่า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10 — เปรียบเทียบผลของโมเดล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เพื่อเปรียบเทียบประสิทธิภาพของทุกโมเดลจาก Metric ชุดเดียวกัน และเลือก Best Model โดยพิจารณา MAE เป็นหลัก พร้อมตรวจสอบ RMSE และ R² ประกอบ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96528" y="1097280"/>
            <a:ext cx="28620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34272" y="1408176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B334D"/>
                </a:solidFill>
                <a:latin typeface="Cordia New"/>
              </a:rPr>
              <a:t>Best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254203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369759"/>
                </a:solidFill>
                <a:latin typeface="Cordia New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88920"/>
            <a:ext cx="2542032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A74"/>
                </a:solidFill>
                <a:latin typeface="Cordia New"/>
              </a:rPr>
              <a:t>MAE = 14,208.36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401568"/>
            <a:ext cx="2542032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B6BBF"/>
                </a:solidFill>
                <a:latin typeface="Cordia New"/>
              </a:rPr>
              <a:t>RMSE = 20,836.62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014215"/>
            <a:ext cx="2542032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F4EAC"/>
                </a:solidFill>
                <a:latin typeface="Cordia New"/>
              </a:rPr>
              <a:t>R² = 0.2040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754880"/>
            <a:ext cx="2542032" cy="987552"/>
          </a:xfrm>
          <a:prstGeom prst="roundRect">
            <a:avLst/>
          </a:prstGeom>
          <a:solidFill>
            <a:srgbClr val="E5F6F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0848" y="4864608"/>
            <a:ext cx="2322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B334D"/>
                </a:solidFill>
                <a:latin typeface="Cordia New"/>
              </a:rPr>
              <a:t>เลือกตาม MAE ต่ำสุดใน Test Set</a:t>
            </a:r>
          </a:p>
        </p:txBody>
      </p:sp>
      <p:pic>
        <p:nvPicPr>
          <p:cNvPr id="19" name="Picture 18" descr="Screenshot 2569-10-06 at 18.41.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1132971"/>
            <a:ext cx="8046718" cy="52321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ตีความ Metrics ให้ถูกต้อง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อย่าดูแค่ชื่อโมเดล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98448"/>
          <a:ext cx="78638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Metric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Random Forest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ตีความ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14,208.36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ผิดเฉลี่ย ~14,208 คัน/เดือน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RMSE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20,836.62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มีบางเดือนผิดมาก จึงสูงกว่า MAE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0.2040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อธิบายความแปรปรวนได้ระดับหนึ่ง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Test size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7 เดือน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Sample เล็ก — สรุปเชิงใช้งานจริงต้องระวัง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796528" y="1298448"/>
            <a:ext cx="2788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618488"/>
            <a:ext cx="2304288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ข้อสังเกต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0" y="2304288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2872" y="2194560"/>
            <a:ext cx="219456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Naïve / GB / Ridge / LR มี R² ติดลบ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063240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2953512"/>
            <a:ext cx="219456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Random Forest จับแนวโน้มได้ดีกว่าแต่ยังไม่สมบูรณ์</a:t>
            </a:r>
          </a:p>
        </p:txBody>
      </p:sp>
      <p:sp>
        <p:nvSpPr>
          <p:cNvPr id="16" name="Oval 15"/>
          <p:cNvSpPr/>
          <p:nvPr/>
        </p:nvSpPr>
        <p:spPr>
          <a:xfrm>
            <a:off x="9052560" y="3822191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62872" y="3712463"/>
            <a:ext cx="219456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Lab นี้เน้น Workflow มากกว่าความแม่นยำระดับ Production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11 — Actual vs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เพื่อเปรียบเทียบค่าจริงกับค่าพยากรณ์ของ Best Model ตามลำดับเวลา และตรวจสอบว่าโมเดลติดตามแนวโน้ม จุดเปลี่ยน และค่าที่พุ่งสูงผิดปกติได้ดีเพียงใด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366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30.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48" y="1097280"/>
            <a:ext cx="8156502" cy="5303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0" y="1097280"/>
            <a:ext cx="25146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45168" y="1426464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แนวทางการตีความกราฟ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0" y="210312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993392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Actual = เส้นจริง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0" y="2770632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7192" y="2660904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Random Forest = เส้นพยากรณ์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0" y="3438144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37192" y="3328416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ม.ค. 2026 Actual กระโดดขึ้นมาก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0" y="4105656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3995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RF ไม่จับ peak นี้ได้เต็มที่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>
                <a:latin typeface="Cordia New"/>
              </a:rPr>
              <a:t>STEP 11 — Code: Actual vs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เพื่อสร้างกราฟ Actual vs Forecast จาก Test Set โดยใช้ค่าพยากรณ์ของ Random Forest และแสดงทั้งสองเส้นบนแกนเวลาเดียวกันเพื่อให้เปรียบเทียบได้โดยตรง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>
                <a:latin typeface="Cordia New"/>
              </a:rPr>
              <a:t>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7909560" cy="5358384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88719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Actual vs Forecast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78992"/>
            <a:ext cx="2834640" cy="5358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389888"/>
            <a:ext cx="23317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sz="2000">
                <a:latin typeface="Cordia New"/>
              </a:rPr>
              <a:t>ขั้นตอนการรันคำสั่ง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1993392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sz="1500">
                <a:latin typeface="Cordia New"/>
              </a:rPr>
              <a:t>1. ต้องรัน STEP 9 ให้เสร็จสิ้น เพื่อให้ตัวแปร predictions ถูกสร้างก่อน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054096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sz="1500">
                <a:latin typeface="Cordia New"/>
              </a:rPr>
              <a:t>2. ใช้ test['Date'] เป็นแกนเวลาเพื่อให้ค่าจริงและค่าพยากรณ์อยู่ในเดือนเดียวกัน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4114800"/>
            <a:ext cx="23774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sz="1500">
                <a:latin typeface="Cordia New"/>
              </a:rPr>
              <a:t>3. กำหนด y_test เป็นค่าจริง และ rf_pred เป็นค่าพยากรณ์ของ 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7580376" cy="4846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import matplotlib.pyplot as plt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8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# ดึงค่าพยากรณ์ของ Random Forest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rf_pred = predictions['Random Forest']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8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plt.figure(figsize=(14,5))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8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plt.plot(test['Date'], y_test,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         marker='o', linewidth=2,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         label='Actual')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8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plt.plot(test['Date'], rf_pred,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         marker='s', linestyle='--',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         linewidth=2, label='Random Forest')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18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plt.title('Actual vs Forecast - Random Forest')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plt.xlabel('Month')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plt.ylabel('Vehicle Registrations')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plt.legend()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plt.grid(True)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plt.xticks(rotation=45)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plt.tight_layout()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>
                <a:solidFill>
                  <a:srgbClr val="ECF0F3"/>
                </a:solidFill>
                <a:latin typeface="Cordia New"/>
              </a:rPr>
              <a:t>plt.show()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>
                <a:latin typeface="Cordia New"/>
              </a:rPr>
              <a:t>STEP 11 — ผลการรัน Actual vs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เพื่ออ่านและตีความกราฟจากผลรันจริง ระบุช่วงที่โมเดลพยากรณ์ใกล้เคียงค่าจริง และสังเกตข้อจำกัดเมื่อข้อมูลเกิดการเปลี่ยนแปลงอย่างฉับพลัน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366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097280"/>
            <a:ext cx="25146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45168" y="1426464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latin typeface="Cordia New"/>
              </a:rPr>
              <a:t>แนวทางการตีความผล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0" y="210312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993392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latin typeface="Cordia New"/>
              </a:rPr>
              <a:t>Actual = ค่าจริงใน Test Set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0" y="2770632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37192" y="2660904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latin typeface="Cordia New"/>
              </a:rPr>
              <a:t>Random Forest = ค่าพยากรณ์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0" y="3438144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37192" y="3328416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latin typeface="Cordia New"/>
              </a:rPr>
              <a:t>ม.ค. 2026 Actual ≈ 250,212 คัน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0" y="4105656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3995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latin typeface="Cordia New"/>
              </a:rPr>
              <a:t>โมเดลตาม peak นี้ไม่ทัน → ยังมีข้อจำกัด</a:t>
            </a:r>
          </a:p>
        </p:txBody>
      </p:sp>
      <p:pic>
        <p:nvPicPr>
          <p:cNvPr id="21" name="Picture 20" descr="Step11_Actual_vs_Forecas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43000"/>
            <a:ext cx="815644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12 — Train Final Random Forest และพยากรณ์เดือนถัดไป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เพื่อฝึก Random Forest ฉบับสุดท้ายด้วยข้อมูล Modeling ทั้งหมดหลังเลือกโมเดลแล้ว และใช้ค่า Lag ล่าสุด 3 เดือนสำหรับพยากรณ์หนึ่งเดือนข้างหน้า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7818120" cy="5358384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88719"/>
            <a:ext cx="748893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Final Fit + One-step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7488936" cy="4846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final_model = RandomForestRegressor(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n_estimators=100,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max_depth=3,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random_state=42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2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final_model.fit(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model_data[['Lag1','Lag2','Lag3']],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model_data['TotalRegistrations']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2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latest = forecast_data['TotalRegistrations'].iloc[-3:]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future_data = pd.DataFrame({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'Lag1':[latest.iloc[-1]],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'Lag2':[latest.iloc[-2]],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    'Lag3':[latest.iloc[-3]]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})</a:t>
            </a:r>
          </a:p>
          <a:p>
            <a:pPr>
              <a:spcAft>
                <a:spcPts val="0"/>
              </a:spcAft>
            </a:pPr>
            <a:endParaRPr sz="12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future_prediction = final_model.predict(future_data)[0]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forecast_month = forecast_data['Date'].max() + pd.DateOffset(months=1)</a:t>
            </a:r>
          </a:p>
          <a:p>
            <a:pPr>
              <a:spcAft>
                <a:spcPts val="0"/>
              </a:spcAft>
            </a:pPr>
            <a:endParaRPr sz="12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print('Forecast Month:', forecast_month.strftime('%Y-%m'))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CF0F3"/>
                </a:solidFill>
                <a:latin typeface="Cordia New"/>
              </a:rPr>
              <a:t>print('Forecast Registrations:', round(future_prediction), 'คัน')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78992"/>
            <a:ext cx="3017520" cy="5358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41732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หลักการ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0" y="216712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2057400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หลังจากเลือก Best Model แล้ว จึงฝึกโมเดลใหม่ด้วยข้อมูล Modeling ทั้งหมด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0" y="289864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2788920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ใช้ยอดจดทะเบียนย้อนหลัง 3 เดือนล่าสุดเป็น Input สำหรับการพยากรณ์</a:t>
            </a:r>
          </a:p>
        </p:txBody>
      </p:sp>
      <p:sp>
        <p:nvSpPr>
          <p:cNvPr id="18" name="Oval 17"/>
          <p:cNvSpPr/>
          <p:nvPr/>
        </p:nvSpPr>
        <p:spPr>
          <a:xfrm>
            <a:off x="8869680" y="3630168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2" y="3520440"/>
            <a:ext cx="233172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5303A"/>
                </a:solidFill>
                <a:latin typeface="Cordia New"/>
              </a:rPr>
              <a:t>พยากรณ์ล่วงหน้า 1 เดือนจากเดือนล่าสุดที่มีข้อมูลสมบูรณ์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4526280"/>
            <a:ext cx="2523744" cy="1097280"/>
          </a:xfrm>
          <a:prstGeom prst="roundRect">
            <a:avLst/>
          </a:prstGeom>
          <a:solidFill>
            <a:srgbClr val="E5F6F4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51976" y="4636008"/>
            <a:ext cx="230428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369759"/>
                </a:solidFill>
                <a:latin typeface="Cordia New"/>
              </a:rPr>
              <a:t>Forecast = 204,586 คัน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12 — ผลพยากรณ์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เพื่อยืนยันเดือนเป้าหมายและค่าพยากรณ์ที่ได้จาก Final Model ก่อนจัดเตรียมผลลัพธ์สำหรับการนำไปวิเคราะห์และนำเสนอใน Power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183879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0" y="1097280"/>
            <a:ext cx="2697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508760"/>
            <a:ext cx="2240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Forecast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40280"/>
            <a:ext cx="23317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B6BBF"/>
                </a:solidFill>
                <a:latin typeface="Cordia New"/>
              </a:rPr>
              <a:t>2026-02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3035808"/>
            <a:ext cx="2377440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69759"/>
                </a:solidFill>
                <a:latin typeface="Cordia New"/>
              </a:rPr>
              <a:t>204,586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730752"/>
            <a:ext cx="23317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5303A"/>
                </a:solidFill>
                <a:latin typeface="Cordia New"/>
              </a:rPr>
              <a:t>คัน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4663440"/>
            <a:ext cx="23774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F4EAC"/>
                </a:solidFill>
                <a:latin typeface="Cordia New"/>
              </a:rPr>
              <a:t>Model: Random Forest</a:t>
            </a:r>
          </a:p>
        </p:txBody>
      </p:sp>
      <p:pic>
        <p:nvPicPr>
          <p:cNvPr id="17" name="Picture 16" descr="step12_result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8" y="1314263"/>
            <a:ext cx="8156502" cy="486955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STEP 13 — เตรียมข้อมูล Actual + Forecast สำหรับ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เพื่อจัดโครงสร้างข้อมูลให้เหมาะกับ Power BI โดยรวมค่าจริง ค่าพยากรณ์ และสถานะ History/Test/Future ไว้ในตารางเดียวกัน พร้อมระบุชื่อโมเดลที่ใช้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7909560" cy="5413248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61288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5D2CC"/>
                </a:solidFill>
                <a:latin typeface="Cordia New"/>
              </a:rPr>
              <a:t>Part 1 — Build Export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53895"/>
            <a:ext cx="7580376" cy="4901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 = forecast_data[['Date','TotalRegistrations']].copy()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 = powerbi.rename(columns={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'TotalRegistrations':'ActualRegistrations'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powerbi['ForecastRegistrations'] = np.nan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powerbi['DatasetSegment'] = 'History'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powerbi.loc[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powerbi['Date'].isin(test['Date']),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'ForecastRegistrations'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] = predictions['Random Forest']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powerbi.loc[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powerbi['Date'].isin(test['Date']),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'DatasetSegment'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] = 'Test'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future_row = pd.DataFrame({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'Date':[forecast_month],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'ActualRegistrations':[np.nan],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'ForecastRegistrations':[round(future_prediction)],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    'DatasetSegment':['Future']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06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 = pd.concat([powerbi, future_row], ignore_index=True)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60">
                <a:solidFill>
                  <a:srgbClr val="ECF0F3"/>
                </a:solidFill>
                <a:latin typeface="Cordia New"/>
              </a:rPr>
              <a:t>powerbi['Model'] = 'Random Forest'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51560"/>
            <a:ext cx="288036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>
                <a:latin typeface="Cordia New"/>
              </a:rPr>
              <a:t>หน้าที่ของชุดคำสั่ง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10312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99339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>
                <a:latin typeface="Cordia New"/>
              </a:rPr>
              <a:t>1. คัดลอก Date และยอดจริง
แล้วเปลี่ยนชื่อเป็น ActualRegistrations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0" y="265176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1432" y="254203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>
                <a:latin typeface="Cordia New"/>
              </a:rPr>
              <a:t>2. เติม Forecast เฉพาะช่วง Test
จาก predictions['Random Forest']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3200400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309067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>
                <a:latin typeface="Cordia New"/>
              </a:rPr>
              <a:t>3. กำหนด Segment
History / Test / Future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749039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363931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>
                <a:latin typeface="Cordia New"/>
              </a:rPr>
              <a:t>4. เพิ่มแถวเดือนอนาคต
Forecast ≈ 204,586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4297680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418795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>
                <a:latin typeface="Cordia New"/>
              </a:rPr>
              <a:t>5. ระบุ Model = Random Forest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STEP 13 — Export CSV และตรวจผล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เพื่อบันทึกตาราง Forecast เป็นไฟล์ CSV ที่ Power BI อ่านได้ และตรวจสอบผลหลัง Export ด้วยตัวอย่างข้อมูลท้ายตารางรวมถึงตำแหน่งไฟล์ที่ถูกบันทึกจริง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7909560" cy="5413248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61288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5D2CC"/>
                </a:solidFill>
                <a:latin typeface="Cordia New"/>
              </a:rPr>
              <a:t>Part 2 — Save +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53895"/>
            <a:ext cx="7580376" cy="4901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powerbi.to_csv(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    'DLT_Vehicle_Forecast_PowerBI.csv',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    index=False,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    encoding='utf-8-sig'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1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print('สร้างไฟล์เรียบร้อยแล้ว')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print('ชื่อไฟล์: DLT_Vehicle_Forecast_PowerBI.csv')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1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display(powerbi.tail(10))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31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import 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print(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    'ตำแหน่งไฟล์:',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    os.path.abspath('DLT_Vehicle_Forecast_PowerBI.csv')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10">
                <a:solidFill>
                  <a:srgbClr val="ECF0F3"/>
                </a:solidFill>
                <a:latin typeface="Cordia New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51560"/>
            <a:ext cx="288036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>
                <a:latin typeface="Cordia New"/>
              </a:rPr>
              <a:t>คำอธิบายการทำงานของคำสั่ง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10312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99339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>
                <a:latin typeface="Cordia New"/>
              </a:rPr>
              <a:t>1. to_csv(...)
สร้างไฟล์ CSV จริง
UTF-8-SIG ช่วยให้ภาษาไทยอ่านได้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0" y="265176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1432" y="254203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>
                <a:latin typeface="Cordia New"/>
              </a:rPr>
              <a:t>2. print(...)
ยืนยันว่า Cell รันถึงขั้น Export
และบอกชื่อไฟล์ที่สร้าง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3200400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309067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>
                <a:latin typeface="Cordia New"/>
              </a:rPr>
              <a:t>3. display(powerbi.tail(10))
แสดง 10 แถวท้าย
ตรวจ Test และ Future ได้ทันที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749039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363931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>
                <a:latin typeface="Cordia New"/>
              </a:rPr>
              <a:t>4. os.path.abspath(...)
แสดง Full Path
เพื่อรู้ว่าไฟล์ถูกเก็บไว้ที่ไหน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4297680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418795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70">
                <a:latin typeface="Cordia New"/>
              </a:rPr>
              <a:t>ถือว่าขั้นตอนสำเร็จเมื่อไม่พบ Error แสดงตารางตรวจสอบได้ และแสดง Full Path ของไฟล์ได้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13 — ตรวจไฟล์ Forecast สำหรับ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เพื่อตรวจสอบโครงสร้างและค่าของไฟล์ Forecast ก่อนนำเข้า Power BI โดยเฉพาะแถว Future ซึ่งต้องมี ForecastRegistrations และไม่มี ActualRegistrations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366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097280"/>
            <a:ext cx="25146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1417320"/>
            <a:ext cx="2139696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แถวสุดท้าย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5740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B6BBF"/>
                </a:solidFill>
                <a:latin typeface="Cordia New"/>
              </a:rPr>
              <a:t>2026-02-01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74320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36F7A"/>
                </a:solidFill>
                <a:latin typeface="Cordia New"/>
              </a:rPr>
              <a:t>Actual = 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38328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9759"/>
                </a:solidFill>
                <a:latin typeface="Cordia New"/>
              </a:rPr>
              <a:t>Forecast = 204,586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402336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F4EAC"/>
                </a:solidFill>
                <a:latin typeface="Cordia New"/>
              </a:rPr>
              <a:t>Segment = Future</a:t>
            </a:r>
          </a:p>
        </p:txBody>
      </p:sp>
      <p:pic>
        <p:nvPicPr>
          <p:cNvPr id="17" name="Picture 16" descr="step13_result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28" y="1097280"/>
            <a:ext cx="70341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STEP 13 — ตรวจตำแหน่งไฟล์และสร้างลิงก์ดาวน์โหลด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เพื่อยืนยันว่าไฟล์ Forecast CSV ถูกสร้างอยู่จริง แสดง Full Path ของไฟล์ และสร้าง FileLink เพื่อให้นักศึกษาสามารถเปิดหรือดาวน์โหลดไฟล์ได้สะดวก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7909560" cy="5413248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61288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5D2CC"/>
                </a:solidFill>
                <a:latin typeface="Cordia New"/>
              </a:rPr>
              <a:t>Part 3 — Locate + FileLink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53895"/>
            <a:ext cx="7580376" cy="4901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import 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from IPython.display import FileLink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2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file_name = "DLT_Vehicle_Forecast_PowerBI.csv"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2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print("ไฟล์อยู่ที่:")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print(os.path.abspath(file_name))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2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print("\nไฟล์มีอยู่จริงหรือไม่:")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print(os.path.exists(file_name))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2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ECF0F3"/>
                </a:solidFill>
                <a:latin typeface="Cordia New"/>
              </a:rPr>
              <a:t>FileLink(file_name)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51560"/>
            <a:ext cx="288036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02B33"/>
                </a:solidFill>
                <a:latin typeface="Cordia New"/>
              </a:rPr>
              <a:t>คำอธิบายการทำงานของคำสั่ง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10312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99339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1. os.path.abspath(...)
แสดงตำแหน่งเต็มของไฟล์ในเครื่อง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0" y="265176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1432" y="254203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2. os.path.exists(...)
ถ้าได้ True แปลว่าไฟล์ถูกสร้างจริง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3200400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309067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3. FileLink(file_name)
สร้างชื่อไฟล์สีน้ำเงินที่คลิกได้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749039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363931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4. คลิกชื่อไฟล์สีน้ำเงิน
เพื่อเปิดหรือดาวน์โหลด CSV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4297680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418795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ผลลัพธ์ที่ถูกต้องต้องแสดง Full Path, ค่า True จากการตรวจไฟล์ และลิงก์สำหรับเปิดหรือดาวน์โหลดไฟล์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STEP 13 — ผลการตรวจไฟล์และลิงก์ดาวน์โหลด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เพื่อยืนยันผลการตรวจไฟล์จาก Jupyter Notebook ว่า Path ถูกต้อง os.path.exists(...) ให้ค่า True และมีลิงก์ไฟล์ที่สามารถคลิกใช้งานได้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3667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097280"/>
            <a:ext cx="25146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1417320"/>
            <a:ext cx="2139696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02B33"/>
                </a:solidFill>
                <a:latin typeface="Cordia New"/>
              </a:rPr>
              <a:t>ผลลัพธ์ที่ต้องตรวจสอบ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05740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>
                <a:solidFill>
                  <a:srgbClr val="202B33"/>
                </a:solidFill>
                <a:latin typeface="Cordia New"/>
              </a:rPr>
              <a:t>1. เห็น Full Path ของไฟล์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74320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202B33"/>
                </a:solidFill>
                <a:latin typeface="Cordia New"/>
              </a:rPr>
              <a:t>2. os.path.exists(...) =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38328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202B33"/>
                </a:solidFill>
                <a:latin typeface="Cordia New"/>
              </a:rPr>
              <a:t>3. เห็นชื่อไฟล์สีน้ำเงิน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4023360"/>
            <a:ext cx="228600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>
                <a:solidFill>
                  <a:srgbClr val="202B33"/>
                </a:solidFill>
                <a:latin typeface="Cordia New"/>
              </a:rPr>
              <a:t>4. คลิกลิงก์เพื่อเปิด/ดาวน์โหลด CSV</a:t>
            </a:r>
          </a:p>
        </p:txBody>
      </p:sp>
      <p:pic>
        <p:nvPicPr>
          <p:cNvPr id="17" name="Picture 16" descr="STEP13_Path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8183879" cy="2331720"/>
          </a:xfrm>
          <a:prstGeom prst="rect">
            <a:avLst/>
          </a:prstGeom>
        </p:spPr>
      </p:pic>
      <p:pic>
        <p:nvPicPr>
          <p:cNvPr id="18" name="Picture 17" descr="STEP13_FileLin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11880"/>
            <a:ext cx="8183879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14 — Export Model Comparison ไป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เพื่อสร้างไฟล์สรุปผลการเปรียบเทียบโมเดลสำหรับ Power BI โดยเก็บ MAE, RMSE, R² และตัวแปร SelectedModel เพื่อระบุโมเดลที่ได้รับเลือก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6309360" cy="4114800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463040"/>
            <a:ext cx="59801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5D2CC"/>
                </a:solidFill>
                <a:latin typeface="Cordia New"/>
              </a:rPr>
              <a:t>Export Model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55648"/>
            <a:ext cx="5980176" cy="3602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comparison_export = comparison.copy()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comparison_export['SelectedModel'] = 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comparison_export['Model'] == comparison_export.iloc[0]['Model']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comparison_export.to_csv(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'DLT_Model_Comparison_PowerBI.csv',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index=False,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    encoding='utf-8-sig'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ECF0F3"/>
              </a:solidFill>
              <a:latin typeface="Cordia New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ECF0F3"/>
                </a:solidFill>
                <a:latin typeface="Cordia New"/>
              </a:rPr>
              <a:t>display(comparison_export)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353312"/>
            <a:ext cx="4160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1691640"/>
            <a:ext cx="35478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คอลัมน์ที่ใช้สำหรับ Power BI</a:t>
            </a:r>
          </a:p>
        </p:txBody>
      </p:sp>
      <p:sp>
        <p:nvSpPr>
          <p:cNvPr id="14" name="Oval 13"/>
          <p:cNvSpPr/>
          <p:nvPr/>
        </p:nvSpPr>
        <p:spPr>
          <a:xfrm>
            <a:off x="7571231" y="23500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81544" y="2240280"/>
            <a:ext cx="32918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Model</a:t>
            </a:r>
          </a:p>
        </p:txBody>
      </p:sp>
      <p:sp>
        <p:nvSpPr>
          <p:cNvPr id="16" name="Oval 15"/>
          <p:cNvSpPr/>
          <p:nvPr/>
        </p:nvSpPr>
        <p:spPr>
          <a:xfrm>
            <a:off x="7571231" y="285292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2743200"/>
            <a:ext cx="32918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MAE</a:t>
            </a:r>
          </a:p>
        </p:txBody>
      </p:sp>
      <p:sp>
        <p:nvSpPr>
          <p:cNvPr id="18" name="Oval 17"/>
          <p:cNvSpPr/>
          <p:nvPr/>
        </p:nvSpPr>
        <p:spPr>
          <a:xfrm>
            <a:off x="7571231" y="3355848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81544" y="3246120"/>
            <a:ext cx="32918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RMSE</a:t>
            </a:r>
          </a:p>
        </p:txBody>
      </p:sp>
      <p:sp>
        <p:nvSpPr>
          <p:cNvPr id="20" name="Oval 19"/>
          <p:cNvSpPr/>
          <p:nvPr/>
        </p:nvSpPr>
        <p:spPr>
          <a:xfrm>
            <a:off x="7571231" y="3858768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81544" y="3749040"/>
            <a:ext cx="32918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R2</a:t>
            </a:r>
          </a:p>
        </p:txBody>
      </p:sp>
      <p:sp>
        <p:nvSpPr>
          <p:cNvPr id="22" name="Oval 21"/>
          <p:cNvSpPr/>
          <p:nvPr/>
        </p:nvSpPr>
        <p:spPr>
          <a:xfrm>
            <a:off x="7571231" y="4361688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81544" y="4251960"/>
            <a:ext cx="32918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SelectedModel (True/False)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760720"/>
            <a:ext cx="9875520" cy="457200"/>
          </a:xfrm>
          <a:prstGeom prst="roundRect">
            <a:avLst/>
          </a:prstGeom>
          <a:solidFill>
            <a:srgbClr val="E5F6F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52728" y="5870448"/>
            <a:ext cx="96560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B334D"/>
                </a:solidFill>
                <a:latin typeface="Cordia New"/>
              </a:rPr>
              <a:t>SelectedModel = True เฉพาะ Random Forest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14 — ตรวจไฟล์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เพื่อตรวจสอบว่าไฟล์ Model Comparison มีโมเดลและ Metric ครบถ้วน และมี SelectedModel = True เฉพาะโมเดลที่ได้รับเลือกเป็น Best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3210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98280" y="1097280"/>
            <a:ext cx="25603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08592" y="1417320"/>
            <a:ext cx="213969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B334D"/>
                </a:solidFill>
                <a:latin typeface="Cordia New"/>
              </a:rPr>
              <a:t>ประเด็นที่ต้องตรวจสอบ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103120"/>
            <a:ext cx="22677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369759"/>
                </a:solidFill>
                <a:latin typeface="Cordia New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779776"/>
            <a:ext cx="22677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36F7A"/>
                </a:solidFill>
                <a:latin typeface="Cordia New"/>
              </a:rPr>
              <a:t>SelectedModel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337560"/>
            <a:ext cx="226771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07A74"/>
                </a:solidFill>
                <a:latin typeface="Cordia New"/>
              </a:rPr>
              <a:t>TRUE</a:t>
            </a:r>
          </a:p>
        </p:txBody>
      </p:sp>
      <p:pic>
        <p:nvPicPr>
          <p:cNvPr id="16" name="Picture 15" descr="step14_resul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89" y="1380135"/>
            <a:ext cx="7283500" cy="47378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STEP 14 — สร้างลิงก์ดาวน์โหลด Model Comparison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เพื่อยืนยันว่าไฟล์ DLT_Model_Comparison_PowerBI.csv ถูกสร้างจริง และสร้างลิงก์สำหรับดาวน์โหลดไฟล์ที่จะนำไปใช้สร้างกราฟเปรียบเทียบใน Power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7909560" cy="5413248"/>
          </a:xfrm>
          <a:prstGeom prst="roundRect">
            <a:avLst/>
          </a:prstGeom>
          <a:solidFill>
            <a:srgbClr val="232A31"/>
          </a:solidFill>
          <a:ln>
            <a:solidFill>
              <a:srgbClr val="2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61288"/>
            <a:ext cx="7580376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latin typeface="Cordia New"/>
              </a:rPr>
              <a:t>Download Model Comparison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53895"/>
            <a:ext cx="7580376" cy="4901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import 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from IPython.display import FileLink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model_file = "DLT_Model_Comparison_PowerBI.csv"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print("ไฟล์อยู่ที่:")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print(os.path.abspath(model_file))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print("\nไฟล์มีอยู่จริงหรือไม่:")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print(os.path.exists(model_file))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400">
              <a:solidFill>
                <a:srgbClr val="ECF0F3"/>
              </a:solidFill>
              <a:latin typeface="Cordia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CF0F3"/>
                </a:solidFill>
                <a:latin typeface="Cordia New"/>
              </a:rPr>
              <a:t>FileLink(model_file)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051560"/>
            <a:ext cx="288036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1417320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02B33"/>
                </a:solidFill>
                <a:latin typeface="Cordia New"/>
              </a:rPr>
              <a:t>ผลลัพธ์ที่คาดหวัง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10312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99339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>
                <a:solidFill>
                  <a:srgbClr val="202B33"/>
                </a:solidFill>
                <a:latin typeface="Cordia New"/>
              </a:rPr>
              <a:t>1. เห็นชื่อไฟล์ DLT_Model_Comparison_PowerBI.csv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0" y="2651760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1432" y="254203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>
                <a:solidFill>
                  <a:srgbClr val="202B33"/>
                </a:solidFill>
                <a:latin typeface="Cordia New"/>
              </a:rPr>
              <a:t>2. os.path.exists(...) ต้องได้ True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3200400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309067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>
                <a:solidFill>
                  <a:srgbClr val="202B33"/>
                </a:solidFill>
                <a:latin typeface="Cordia New"/>
              </a:rPr>
              <a:t>3. เห็นลิงก์สีน้ำเงินที่คลิกได้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749039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2" y="363931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>
                <a:solidFill>
                  <a:srgbClr val="202B33"/>
                </a:solidFill>
                <a:latin typeface="Cordia New"/>
              </a:rPr>
              <a:t>4. ดาวน์โหลดไฟล์นี้เพื่อใช้ใน STEP 15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4297680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4187952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>
                <a:solidFill>
                  <a:srgbClr val="202B33"/>
                </a:solidFill>
                <a:latin typeface="Cordia New"/>
              </a:rPr>
              <a:t>Power BI ใช้ไฟล์นี้สำหรับกราฟ MAE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>
                <a:latin typeface="Cordia New"/>
              </a:rPr>
              <a:t>ก่อนเข้าสู่ Power BI — ต้องเตรียมไฟล์ CSV จำนวน 2 ไฟล์จาก Jupyter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>
                <a:latin typeface="Cordia New"/>
              </a:rPr>
              <a:t>ให้ใช้ชื่อไฟล์และชื่อคอลัมน์ตามที่กำหนด เพื่อให้ขั้นตอนใน Jupyter Notebook และ Power BI สอดคล้องกันตลอดกระบวนการ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>
                <a:latin typeface="Cordia New"/>
              </a:rPr>
              <a:t>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ไฟล์ที่ 1: Model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DLT_Model_Comparison_PowerBI.csv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1430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29844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ใช้ใน 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67335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STEP 15 Import → STEP 16 MAE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คอลัมน์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3639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02B33"/>
                </a:solidFill>
                <a:latin typeface="Cordia New"/>
              </a:rPr>
              <a:t>Model • MAE • RMSE • R2 • SelectedModel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60604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76148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ไฟล์ที่ 2: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13639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202B33"/>
                </a:solidFill>
                <a:latin typeface="Cordia New"/>
              </a:rPr>
              <a:t>DLT_Vehicle_Forecast_PowerBI.csv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ใช้ใน 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94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>
                <a:solidFill>
                  <a:srgbClr val="202B33"/>
                </a:solidFill>
                <a:latin typeface="Cordia New"/>
              </a:rPr>
              <a:t>STEP 17 Import → STEP 18 Line Chart → STEP 19 Card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406908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422452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02B33"/>
                </a:solidFill>
                <a:latin typeface="Cordia New"/>
              </a:rPr>
              <a:t>คอลัมน์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5994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02B33"/>
                </a:solidFill>
                <a:latin typeface="Cordia New"/>
              </a:rPr>
              <a:t>Date • ActualRegistrations • ForecastRegistrations • DatasetSegment • Model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1060704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ordia New"/>
              </a:rPr>
              <a:t>Part 2 —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148840"/>
            <a:ext cx="98755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latin typeface="Cordia New"/>
              </a:rPr>
              <a:t>ใช้ 2 CSV ที่ Export จาก Jupyter เท่านั้น: Model Comparison +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3794760"/>
            <a:ext cx="1920240" cy="530352"/>
          </a:xfrm>
          <a:prstGeom prst="roundRect">
            <a:avLst/>
          </a:prstGeom>
          <a:solidFill>
            <a:srgbClr val="2B6BB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192024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rdia New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6035040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ACDD8"/>
                </a:solidFill>
                <a:latin typeface="Cordia New"/>
              </a:rPr>
              <a:t>Vehicle Registration Forecasting in Thailand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15 — Import Model Comparison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เพื่อนำไฟล์ Model Comparison ที่ Export จาก Jupyter เข้าสู่ Power BI และตรวจสอบว่าตารางมีคอลัมน์ Model, MAE, RMSE, R2 และ SelectedModel ครบถ้วนก่อน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9095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02.42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7563"/>
            <a:ext cx="7909560" cy="51429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05088" y="1097280"/>
            <a:ext cx="295351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0">
                <a:latin typeface="Cordia New"/>
              </a:rPr>
              <a:t>ตรวจ Preview จาก Model Comparison CSV</a:t>
            </a:r>
          </a:p>
        </p:txBody>
      </p:sp>
      <p:sp>
        <p:nvSpPr>
          <p:cNvPr id="13" name="Oval 12"/>
          <p:cNvSpPr/>
          <p:nvPr/>
        </p:nvSpPr>
        <p:spPr>
          <a:xfrm>
            <a:off x="8979408" y="21214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201168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Model</a:t>
            </a:r>
          </a:p>
        </p:txBody>
      </p:sp>
      <p:sp>
        <p:nvSpPr>
          <p:cNvPr id="15" name="Oval 14"/>
          <p:cNvSpPr/>
          <p:nvPr/>
        </p:nvSpPr>
        <p:spPr>
          <a:xfrm>
            <a:off x="8979408" y="262432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251460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MAE</a:t>
            </a:r>
          </a:p>
        </p:txBody>
      </p:sp>
      <p:sp>
        <p:nvSpPr>
          <p:cNvPr id="17" name="Oval 16"/>
          <p:cNvSpPr/>
          <p:nvPr/>
        </p:nvSpPr>
        <p:spPr>
          <a:xfrm>
            <a:off x="8979408" y="3127248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RMSE</a:t>
            </a:r>
          </a:p>
        </p:txBody>
      </p:sp>
      <p:sp>
        <p:nvSpPr>
          <p:cNvPr id="19" name="Oval 18"/>
          <p:cNvSpPr/>
          <p:nvPr/>
        </p:nvSpPr>
        <p:spPr>
          <a:xfrm>
            <a:off x="8979408" y="3630168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352044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R2</a:t>
            </a:r>
          </a:p>
        </p:txBody>
      </p:sp>
      <p:sp>
        <p:nvSpPr>
          <p:cNvPr id="21" name="Oval 20"/>
          <p:cNvSpPr/>
          <p:nvPr/>
        </p:nvSpPr>
        <p:spPr>
          <a:xfrm>
            <a:off x="8979408" y="4133088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02336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SelectedModel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4974336"/>
            <a:ext cx="22402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Cordia New"/>
              </a:rPr>
              <a:t>เมื่อยืนยันว่ามีครบ 5 คอลัมน์และชนิดข้อมูลถูกต้องแล้ว จึงกด Load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16 — สร้างกราฟเปรียบเทียบ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เพื่อสร้างกราฟเปรียบเทียบค่า MAE ของทุกโมเดลจากตาราง Model Comparison ทำให้สามารถมองเห็นและยืนยันโมเดลที่มีค่าความคลาดเคลื่อนต่ำที่สุดได้ชัดเจน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955279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15.49.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2699"/>
            <a:ext cx="7955279" cy="5172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59952" y="1097280"/>
            <a:ext cx="289864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8552" y="1417320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057400"/>
            <a:ext cx="245059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>
                <a:latin typeface="Cordia New"/>
              </a:rPr>
              <a:t>X-axis = Model
จาก DLT_Model_Comparison_PowerBI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743200"/>
            <a:ext cx="245059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>
                <a:latin typeface="Cordia New"/>
              </a:rPr>
              <a:t>Y-axis = MAE
จาก DLT_Model_Comparison_PowerBI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3429000"/>
            <a:ext cx="245059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6F4EAC"/>
                </a:solidFill>
                <a:latin typeface="Cordia New"/>
              </a:rPr>
              <a:t>กำหนดการเรียงค่าแบบ Ascending เพื่อให้โมเดลที่มี MAE ต่ำที่สุดอยู่ลำดับแรก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8" y="4297680"/>
            <a:ext cx="2432304" cy="1097280"/>
          </a:xfrm>
          <a:prstGeom prst="roundRect">
            <a:avLst/>
          </a:prstGeom>
          <a:solidFill>
            <a:srgbClr val="E5F6F4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9136" y="4407408"/>
            <a:ext cx="221284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369759"/>
                </a:solidFill>
                <a:latin typeface="Cordia New"/>
              </a:rPr>
              <a:t>ตรวจสอบว่า Random Forest เป็นแท่งที่มีค่า MAE ต่ำที่สุดตามผลจาก Jupyter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17 — Import Forecast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เพื่อนำไฟล์ Forecast ที่ Export จาก Jupyter เข้าสู่ Power BI และตรวจสอบว่ามี Date, ActualRegistrations, ForecastRegistrations, DatasetSegment และ Model ครบถ้วน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955279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16.06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2699"/>
            <a:ext cx="7955279" cy="5172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59952" y="1097280"/>
            <a:ext cx="289864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15984" y="1417320"/>
            <a:ext cx="23774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50">
                <a:latin typeface="Cordia New"/>
              </a:rPr>
              <a:t>ตรวจ 5 Columns จาก Forecast CSV</a:t>
            </a:r>
          </a:p>
        </p:txBody>
      </p:sp>
      <p:sp>
        <p:nvSpPr>
          <p:cNvPr id="13" name="Oval 12"/>
          <p:cNvSpPr/>
          <p:nvPr/>
        </p:nvSpPr>
        <p:spPr>
          <a:xfrm>
            <a:off x="9015984" y="2121408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26296" y="201168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5303A"/>
                </a:solidFill>
                <a:latin typeface="Cordia New"/>
              </a:rPr>
              <a:t>Date</a:t>
            </a:r>
          </a:p>
        </p:txBody>
      </p:sp>
      <p:sp>
        <p:nvSpPr>
          <p:cNvPr id="15" name="Oval 14"/>
          <p:cNvSpPr/>
          <p:nvPr/>
        </p:nvSpPr>
        <p:spPr>
          <a:xfrm>
            <a:off x="9015984" y="262432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26296" y="251460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5303A"/>
                </a:solidFill>
                <a:latin typeface="Cordia New"/>
              </a:rPr>
              <a:t>ActualRegistrations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015984" y="3127248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26296" y="301752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5303A"/>
                </a:solidFill>
                <a:latin typeface="Cordia New"/>
              </a:rPr>
              <a:t>ForecastRegistrations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015984" y="3630168"/>
            <a:ext cx="118872" cy="118872"/>
          </a:xfrm>
          <a:prstGeom prst="ellipse">
            <a:avLst/>
          </a:prstGeom>
          <a:solidFill>
            <a:srgbClr val="E08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26296" y="352044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5303A"/>
                </a:solidFill>
                <a:latin typeface="Cordia New"/>
              </a:rPr>
              <a:t>DatasetSegment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9015984" y="4133088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4023360"/>
            <a:ext cx="224028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5303A"/>
                </a:solidFill>
                <a:latin typeface="Cordia New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029200"/>
            <a:ext cx="22402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Cordia New"/>
              </a:rPr>
              <a:t>เมื่อยืนยันว่ามีครบ 5 คอลัมน์และชนิดข้อมูลถูกต้องแล้ว จึงกด Load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18 — สร้าง Actual vs Forecast Line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เพื่อสร้างกราฟเส้นเปรียบเทียบค่าจริงกับค่าพยากรณ์ตามเวลา โดยใช้ Date โดยตรงเป็นแกน X เพื่อให้ข้อมูลแสดงในระดับเดือนอย่างถูกต้องและไม่ถูกจัดกลุ่มด้วย Date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8064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16.08.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1308"/>
            <a:ext cx="5806440" cy="37754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46520" y="1097280"/>
            <a:ext cx="52120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569-09-25 at 20.32.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54541"/>
            <a:ext cx="5212080" cy="338899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5349240"/>
            <a:ext cx="5349240" cy="73152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5349240"/>
            <a:ext cx="534924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>
                <a:latin typeface="Cordia New"/>
              </a:rPr>
              <a:t>ไม่ถูกต้อง: ใช้ Date Hierarchy ซึ่งทำให้ข้อมูลถูกจัดกลุ่มเป็น Year/Quarter/Month/Day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6832" y="5349240"/>
            <a:ext cx="4754880" cy="731520"/>
          </a:xfrm>
          <a:prstGeom prst="roundRect">
            <a:avLst/>
          </a:prstGeom>
          <a:solidFill>
            <a:srgbClr val="E5F6F4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5349240"/>
            <a:ext cx="475488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>
                <a:latin typeface="Cordia New"/>
              </a:rPr>
              <a:t>ถูกต้อง: ใช้ DLT_Vehicle_Forecast_PowerBI[Date] โดยตรงเป็นแกน 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18 — ตั้งค่า Fields ของ Line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เพื่อกำหนด Field ของกราฟให้มาจากตาราง Forecast เดียวกัน โดยใช้ Date เป็นแกนเวลา และใช้ ActualRegistrations กับ ForecastRegistrations เป็นค่าที่นำมาเปรียบเทียบ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61872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09344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B6BBF"/>
                </a:solidFill>
                <a:latin typeface="Cordia New"/>
              </a:rPr>
              <a:t>Line Chart Fields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32688" y="2240280"/>
          <a:ext cx="482803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rdia New"/>
                        </a:rPr>
                        <a:t>ช่อง</a:t>
                      </a:r>
                    </a:p>
                  </a:txBody>
                  <a:tcPr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rdia New"/>
                        </a:rPr>
                        <a:t>Field</a:t>
                      </a:r>
                    </a:p>
                  </a:txBody>
                  <a:tcPr>
                    <a:solidFill>
                      <a:srgbClr val="2B6B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X-axis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ordia New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Y-axis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ordia New"/>
                        </a:rPr>
                        <a:t>ActualRegistrations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Y-axis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ordia New"/>
                        </a:rPr>
                        <a:t>ForecastRegistrations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55080" y="1261872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ข้อควรระวัง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2350008"/>
            <a:ext cx="118872" cy="118872"/>
          </a:xfrm>
          <a:prstGeom prst="ellipse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9712" y="2240280"/>
            <a:ext cx="43434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>
                <a:latin typeface="Cordia New"/>
              </a:rPr>
              <a:t>หากในช่อง X-axis แสดง Year / Quarter / Month / Day แสดงว่าเลือก Date Hierarchy และต้องเปลี่ยนเป็น Date โดยตรง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3063240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9712" y="2953512"/>
            <a:ext cx="43434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>
                <a:latin typeface="Cordia New"/>
              </a:rPr>
              <a:t>เลือกคอลัมน์ Date จากตาราง DLT_Vehicle_Forecast_PowerBI โดยตรง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3776472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9712" y="3666744"/>
            <a:ext cx="434340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90">
                <a:latin typeface="Cordia New"/>
              </a:rPr>
              <a:t>กำหนด Y-axis เป็น ActualRegistrations และ ForecastRegistrations จากตาราง DLT_Vehicle_Forecast_PowerBI เดียวกัน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STEP 19 — สร้าง Forecast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10424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>
                <a:solidFill>
                  <a:srgbClr val="55626B"/>
                </a:solidFill>
                <a:latin typeface="Cordia New"/>
              </a:rPr>
              <a:t>วัตถุประสงค์: เพื่อแสดงค่าพยากรณ์ของเดือนอนาคตเพียงค่าเดียวบน Card โดยกรอง DatasetSegment = Future ทำให้ผู้ใช้มองเห็น Forecast ล่าสุดได้อย่างชัดเจนและไม่ปะปนกับข้อมูลย้อนหลัง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183879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20.45.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08" y="1097280"/>
            <a:ext cx="8156502" cy="5303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1120" y="1097280"/>
            <a:ext cx="2697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17152" y="1417320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993392"/>
            <a:ext cx="2331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36F7A"/>
                </a:solidFill>
                <a:latin typeface="Cordia New"/>
              </a:rPr>
              <a:t>Value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87168"/>
            <a:ext cx="239572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80">
                <a:latin typeface="Cordia New"/>
              </a:rPr>
              <a:t>ForecastRegistrations
จาก DLT_Vehicle_Forecast_PowerBI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255264"/>
            <a:ext cx="2331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36F7A"/>
                </a:solidFill>
                <a:latin typeface="Cordia New"/>
              </a:rPr>
              <a:t>Visual Filter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749039"/>
            <a:ext cx="2395728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80">
                <a:latin typeface="Cordia New"/>
              </a:rPr>
              <a:t>DatasetSegment = Future
จาก DLT_Vehicle_Forecast_PowerBI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617720"/>
            <a:ext cx="2395728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369759"/>
                </a:solidFill>
                <a:latin typeface="Cordia New"/>
              </a:rPr>
              <a:t>แสดง 204.59K
≈ 204,586 คัน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Final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องค์ประกอบสำคัญที่ต้องมี — ไม่ต้องตกแต่งจุกจิก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8458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569-09-25 at 20.54.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68" y="1097280"/>
            <a:ext cx="8156502" cy="5303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217152" y="1097280"/>
            <a:ext cx="2441448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36608" y="1408176"/>
            <a:ext cx="20116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334D"/>
                </a:solidFill>
                <a:latin typeface="Cordia New"/>
              </a:rPr>
              <a:t>Dashboard ครบเมื่อมี</a:t>
            </a:r>
          </a:p>
        </p:txBody>
      </p:sp>
      <p:sp>
        <p:nvSpPr>
          <p:cNvPr id="13" name="Oval 12"/>
          <p:cNvSpPr/>
          <p:nvPr/>
        </p:nvSpPr>
        <p:spPr>
          <a:xfrm>
            <a:off x="9400032" y="2121408"/>
            <a:ext cx="118872" cy="118872"/>
          </a:xfrm>
          <a:prstGeom prst="ellipse">
            <a:avLst/>
          </a:prstGeom>
          <a:solidFill>
            <a:srgbClr val="2B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10344" y="2011680"/>
            <a:ext cx="19202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MAE Comparison</a:t>
            </a:r>
          </a:p>
        </p:txBody>
      </p:sp>
      <p:sp>
        <p:nvSpPr>
          <p:cNvPr id="15" name="Oval 14"/>
          <p:cNvSpPr/>
          <p:nvPr/>
        </p:nvSpPr>
        <p:spPr>
          <a:xfrm>
            <a:off x="9400032" y="2788920"/>
            <a:ext cx="118872" cy="118872"/>
          </a:xfrm>
          <a:prstGeom prst="ellipse">
            <a:avLst/>
          </a:prstGeom>
          <a:solidFill>
            <a:srgbClr val="369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0344" y="2679192"/>
            <a:ext cx="19202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Selected Model</a:t>
            </a:r>
          </a:p>
        </p:txBody>
      </p:sp>
      <p:sp>
        <p:nvSpPr>
          <p:cNvPr id="17" name="Oval 16"/>
          <p:cNvSpPr/>
          <p:nvPr/>
        </p:nvSpPr>
        <p:spPr>
          <a:xfrm>
            <a:off x="9400032" y="3456432"/>
            <a:ext cx="118872" cy="118872"/>
          </a:xfrm>
          <a:prstGeom prst="ellipse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10344" y="3346704"/>
            <a:ext cx="19202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Actual vs Forecast</a:t>
            </a:r>
          </a:p>
        </p:txBody>
      </p:sp>
      <p:sp>
        <p:nvSpPr>
          <p:cNvPr id="19" name="Oval 18"/>
          <p:cNvSpPr/>
          <p:nvPr/>
        </p:nvSpPr>
        <p:spPr>
          <a:xfrm>
            <a:off x="9400032" y="4123944"/>
            <a:ext cx="118872" cy="118872"/>
          </a:xfrm>
          <a:prstGeom prst="ellipse">
            <a:avLst/>
          </a:prstGeom>
          <a:solidFill>
            <a:srgbClr val="6F4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0344" y="4014216"/>
            <a:ext cx="1920240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Forecast 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4864608"/>
            <a:ext cx="1920240" cy="1005840"/>
          </a:xfrm>
          <a:prstGeom prst="roundRect">
            <a:avLst/>
          </a:prstGeom>
          <a:solidFill>
            <a:srgbClr val="E7EFFC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59" y="4974336"/>
            <a:ext cx="17007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1B334D"/>
                </a:solidFill>
                <a:latin typeface="Cordia New"/>
              </a:rPr>
              <a:t>Save เป็น .pbix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สรุปผลการทดลอง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ตัวเลขที่นักศึกษาควรอธิบายได้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43584"/>
          <a:ext cx="7406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รายการ</a:t>
                      </a:r>
                    </a:p>
                  </a:txBody>
                  <a:tcPr>
                    <a:solidFill>
                      <a:srgbClr val="1B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ผลลัพธ์</a:t>
                      </a:r>
                    </a:p>
                  </a:txBody>
                  <a:tcPr>
                    <a:solidFill>
                      <a:srgbClr val="1B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Raw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68,398 records / 9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Monthly aggregation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49 months found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Missing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Dec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Partial month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Feb 2026 = 18 vehicles / 6 records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Forecast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Jan 2024 – Jan 2026 = 25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Modeling observations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22 after Lag1–Lag3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Train /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15 / 7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Best model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Random Forest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Test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14,208.36 vehicles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Forecast Feb 2026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204,586 vehicles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39327" y="1243584"/>
            <a:ext cx="327355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13648" y="1572768"/>
            <a:ext cx="27249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B334D"/>
                </a:solidFill>
                <a:latin typeface="Cordia New"/>
              </a:rPr>
              <a:t>ประโยคสรุป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194560"/>
            <a:ext cx="2834640" cy="2194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07A74"/>
                </a:solidFill>
                <a:latin typeface="Cordia New"/>
              </a:rPr>
              <a:t>“จากการเปรียบเทียบ 5 วิธีบน Test Set เดียวกัน Random Forest ให้ค่า MAE ต่ำที่สุด จึงถูกเลือกเป็นโมเดลสำหรับพยากรณ์เดือนถัดไป”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ข้อจำกัดที่ต้องบอกนักศึกษา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Lab นี้เน้นกระบวนการ ไม่ใช่ Production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64545"/>
                </a:solidFill>
                <a:latin typeface="Cordia New"/>
              </a:rPr>
              <a:t>ข้อมูลต่อเนื่องมีเพียง 25 เดือน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ไม่มากพอสำหรับสรุปประสิทธิภาพระยะยาว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1430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29844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08429"/>
                </a:solidFill>
                <a:latin typeface="Cordia New"/>
              </a:rPr>
              <a:t>Training 15 / Testing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67335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Metric ผันผวนได้มากเมื่อ Test Set เล็ก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F4EAC"/>
                </a:solidFill>
                <a:latin typeface="Cordia New"/>
              </a:rPr>
              <a:t>Lag ใช้เพียง 1–3 เดือน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3639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ยังไม่ครอบคลุม seasonal pattern 12 เดือน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60604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76148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B6BBF"/>
                </a:solidFill>
                <a:latin typeface="Cordia New"/>
              </a:rPr>
              <a:t>R² ของ Random Forest = 0.204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13639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ยังมีส่วนของความผันผวนที่โมเดลอธิบายไม่ได้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2452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69759"/>
                </a:solidFill>
                <a:latin typeface="Cordia New"/>
              </a:rPr>
              <a:t>Forecast = 204,586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94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เป็นค่าจากโมเดล Lab ไม่ใช่ยอดจริง ก.พ. 2569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406908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4224528"/>
            <a:ext cx="4846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7A74"/>
                </a:solidFill>
                <a:latin typeface="Cordia New"/>
              </a:rPr>
              <a:t>ใช้เพื่อการสอน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599432"/>
            <a:ext cx="48463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5303A"/>
                </a:solidFill>
                <a:latin typeface="Cordia New"/>
              </a:rPr>
              <a:t>เหมาะสำหรับฝึก Workflow Data → Model → BI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52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334D"/>
                </a:solidFill>
                <a:latin typeface="Cordia New"/>
              </a:rPr>
              <a:t>งานที่นักศึกษาต้องส่ง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40080"/>
            <a:ext cx="1042416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6F7A"/>
                </a:solidFill>
                <a:latin typeface="Cordia New"/>
              </a:rPr>
              <a:t>Checklist สำหรับตรวจ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182880"/>
            <a:ext cx="1051560" cy="329184"/>
          </a:xfrm>
          <a:prstGeom prst="roundRect">
            <a:avLst/>
          </a:prstGeom>
          <a:solidFill>
            <a:srgbClr val="007A74"/>
          </a:solidFill>
          <a:ln w="12700"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182880"/>
            <a:ext cx="10515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ordia New"/>
              </a:rPr>
              <a:t>ASSIGN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latin typeface="Cordia New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01384"/>
            <a:ext cx="7498079" cy="1645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34440"/>
          <a:ext cx="1086307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#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สิ่งที่ส่ง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ordia New"/>
                        </a:rPr>
                        <a:t>สิ่งที่ต้องมี</a:t>
                      </a:r>
                    </a:p>
                  </a:txBody>
                  <a:tcPr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Notebook (.ipynb)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มี Load, Aggregate, Gap Check, Lag, Split, Models,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Model Comparison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ตาราง MAE / RMSE / R² ของ 5 โมเดล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Best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อธิบายว่าทำไมเลือก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4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Forecast CSV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DLT_Vehicle_Forecast_PowerBI.csv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Comparison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DLT_Model_Comparison_PowerBI.csv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Power BI (.pbix)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มี MAE chart + Actual vs Forecast + Forecast Card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สรุป 1 ย่อหน้า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303A"/>
                          </a:solidFill>
                          <a:latin typeface="Cordia New"/>
                        </a:rPr>
                        <a:t>รายงาน Forecast 204,586 คัน พร้อมข้อจำกัด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097280" y="5925312"/>
            <a:ext cx="10012680" cy="457200"/>
          </a:xfrm>
          <a:prstGeom prst="roundRect">
            <a:avLst/>
          </a:prstGeom>
          <a:solidFill>
            <a:srgbClr val="E5F6F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7" y="6035040"/>
            <a:ext cx="9793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B334D"/>
                </a:solidFill>
                <a:latin typeface="Cordia New"/>
              </a:rPr>
              <a:t>เกณฑ์สำคัญ: อธิบายเหตุผลของแต่ละขั้นได้ ไม่ใช่เพียงรันโค้ดผ่าน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1042416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Part 3 — เข้าใจ Forecasting และ Python Code แบบอ่านเองได้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29968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Self-Study Appendix: อธิบายแนวคิด การแปลผล และโค้ดแบบทีละบรรทัด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3337560"/>
            <a:ext cx="2331720" cy="749808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233172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>
                <a:latin typeface="Cordia New"/>
              </a:rPr>
              <a:t>READ &amp;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337560"/>
            <a:ext cx="2331720" cy="749808"/>
          </a:xfrm>
          <a:prstGeom prst="roundRect">
            <a:avLst/>
          </a:prstGeom>
          <a:solidFill>
            <a:srgbClr val="2B6BBF"/>
          </a:solidFill>
          <a:ln w="12700"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3337560"/>
            <a:ext cx="233172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ordia New"/>
              </a:rPr>
              <a:t>5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2331720" cy="749808"/>
          </a:xfrm>
          <a:prstGeom prst="roundRect">
            <a:avLst/>
          </a:prstGeom>
          <a:solidFill>
            <a:srgbClr val="6F4EAC"/>
          </a:solidFill>
          <a:ln w="12700"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3337560"/>
            <a:ext cx="233172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ordia New"/>
              </a:rPr>
              <a:t>MAE 14,208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337560"/>
            <a:ext cx="2331720" cy="749808"/>
          </a:xfrm>
          <a:prstGeom prst="roundRect">
            <a:avLst/>
          </a:prstGeom>
          <a:solidFill>
            <a:srgbClr val="369759"/>
          </a:solidFill>
          <a:ln w="12700"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3337560"/>
            <a:ext cx="233172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ordia New"/>
              </a:rPr>
              <a:t>Forecast 204,586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19472"/>
            <a:ext cx="9646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Cordia New"/>
              </a:rPr>
              <a:t>เป้าหมายของ Lab: เข้าใจทั้งกระบวนการ ไม่ใช่เพียงได้ตัวเลขพยากรณ์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Forecasting คืออะไร?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จากข้อมูลในอดีต → เรียนรู้รูปแบบ → คาดการณ์ค่าของเดือนถัดไป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1031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007A74"/>
                </a:solidFill>
                <a:latin typeface="Cordia New"/>
              </a:rPr>
              <a:t>โจทย์ของ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0972800" cy="64008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/>
          <a:lstStyle/>
          <a:p>
            <a:pPr algn="l"/>
            <a:r>
              <a:rPr sz="2200" b="1" i="0">
                <a:solidFill>
                  <a:srgbClr val="1B334D"/>
                </a:solidFill>
                <a:latin typeface="Cordia New"/>
              </a:rPr>
              <a:t>“ใช้จำนวนรถจดทะเบียนในอดีต เพื่อพยากรณ์จำนวนรถจดทะเบียนของเดือนถัดไป”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965960" cy="1143000"/>
          </a:xfrm>
          <a:prstGeom prst="roundRect">
            <a:avLst/>
          </a:prstGeom>
          <a:solidFill>
            <a:srgbClr val="6F4EAC"/>
          </a:solidFill>
          <a:ln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Lag3
พ.ย. 2568
177,066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1965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636F7A"/>
                </a:solidFill>
                <a:latin typeface="Cordia New"/>
              </a:rPr>
              <a:t>อดีต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18211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880360"/>
            <a:ext cx="1965960" cy="1143000"/>
          </a:xfrm>
          <a:prstGeom prst="roundRect">
            <a:avLst/>
          </a:prstGeom>
          <a:solidFill>
            <a:srgbClr val="2B6BBF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Lag2
ธ.ค. 2568
184,093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87168"/>
            <a:ext cx="1965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636F7A"/>
                </a:solidFill>
                <a:latin typeface="Cordia New"/>
              </a:rPr>
              <a:t>อดีต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18211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80360"/>
            <a:ext cx="1965960" cy="114300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Lag1
ม.ค. 2569
250,212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87168"/>
            <a:ext cx="1965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636F7A"/>
                </a:solidFill>
                <a:latin typeface="Cordia New"/>
              </a:rPr>
              <a:t>ล่าสุด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82112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880360"/>
            <a:ext cx="1965960" cy="1143000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Target
ก.พ. 2569
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87168"/>
            <a:ext cx="1965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636F7A"/>
                </a:solidFill>
                <a:latin typeface="Cordia New"/>
              </a:rPr>
              <a:t>อนาคต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1508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Target = TotalRegistrations ของเดือนที่ต้องการพยากรณ์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Features = Lag1, Lag2, Lag3 หรือยอดย้อนหลัง 1–3 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โมเดลจะเรียนรู้ความสัมพันธ์ระหว่าง “ยอดย้อนหลัง” กับ “ยอดเดือนถัดไป” จากข้อมูล Training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จาก Raw Data 68,398 Records สู่ Monthly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ทำไมต้อง Aggregate ก่อนสร้างโมเดล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212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2B6BBF"/>
                </a:solidFill>
                <a:latin typeface="Cordia New"/>
              </a:rPr>
              <a:t>Raw data: 1 เดือนมีหลายแถว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64208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ปี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เดือน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ยี่ห้อ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รุ่น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จำนวน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2565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AUDI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2565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AUDI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A5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2565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AUDI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A6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80760" y="1234440"/>
            <a:ext cx="53949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007A74"/>
                </a:solidFill>
                <a:latin typeface="Cordia New"/>
              </a:rPr>
              <a:t>Aggregate ด้วย groupby + sum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80760" y="1664208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Month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TotalRegistrations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2024-01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239,866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2024-02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208,918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2024-03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214,311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2024-04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181,314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554480" y="3913632"/>
            <a:ext cx="1645920" cy="502920"/>
          </a:xfrm>
          <a:prstGeom prst="roundRect">
            <a:avLst/>
          </a:prstGeom>
          <a:solidFill>
            <a:srgbClr val="2B6BBF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rdia New"/>
              </a:rPr>
              <a:t>68,398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50208"/>
            <a:ext cx="731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30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913632"/>
            <a:ext cx="201168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ordia New"/>
              </a:rPr>
              <a:t>49 monthly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โมเดลพยากรณ์รายเดือนต้องมี “1 แถวต่อ 1 เดือน” เพื่อให้ลำดับเวลาไม่ซ้ำกัน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จำนวน 68,398 คือจำนวนรายการดิบ ไม่ใช่จำนวนตัวอย่างที่โมเดลใช้หลัง Aggregate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หลัง Aggregate เราจึงได้ Time Series ที่สามารถสร้าง Lag และแบ่ง Train/Test ตามเวลาได้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Data Quality ก่อน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เหตุใดจึงใช้ช่วง ม.ค. 2567 – ม.ค. 2569 รวม 25 เดือน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ประเด็น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สิ่งที่พบ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การตัดสินใจ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Missing month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ธ.ค. 2566 ไม่มีข้อมูล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ไม่เติมค่าคาดเดา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Partial month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ก.พ. 2569 มี 6 records รวม 18 คัน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ตัดออกจาก Training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Continuous window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 2567 – ม.ค. 2569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ใช้ 25 เดือนต่อเนื่อง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31920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E08429"/>
                </a:solidFill>
                <a:latin typeface="Cordia New"/>
              </a:rPr>
              <a:t>หลักคิดสำคัญ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10607040" cy="1508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Forecasting ไวต่อ “ช่องว่างของเวลา” และ “เดือนที่ข้อมูลยังไม่ครบ” มากกว่างานตารางทั่วไป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ถ้าใช้ก.พ. 2569 = 18 คันเป็นยอดเต็มเดือน โมเดลจะเรียนรู้สัญญาณผิดและทำให้ผลพยากรณ์เพี้ยน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การตัดเดือนที่ไม่สมบูรณ์ออก คือ Data Quality Decision ไม่ใช่การลบ Outlier เพื่อให้โมเดลดูดี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Lag Features คืออะไร?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แปลง Time Series ให้ Machine Learning เรียนรู้ได้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Target Month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Lag3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Lag2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Lag1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Target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เม.ย. 2567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239,866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208,918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214,311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181,314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พ.ค. 2567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208,918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214,311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181,314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227,170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มิ.ย. 2567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214,311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181,314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227,170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211,518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3794760"/>
            <a:ext cx="21945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6F4EAC"/>
                </a:solidFill>
                <a:latin typeface="Cordia New"/>
              </a:rPr>
              <a:t>อ่าน 1 แถวอย่างไร?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0698480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700" b="1" i="0">
                <a:solidFill>
                  <a:srgbClr val="1B334D"/>
                </a:solidFill>
                <a:latin typeface="Cordia New"/>
              </a:rPr>
              <a:t>ตัวอย่าง: เม.ย. 2567  </a:t>
            </a:r>
            <a:r>
              <a:rPr sz="1700" b="0" i="0">
                <a:solidFill>
                  <a:srgbClr val="2F3A45"/>
                </a:solidFill>
                <a:latin typeface="Cordia New"/>
              </a:rPr>
              <a:t>โมเดลเห็นยอดของ ม.ค.–มี.ค. เป็น Lag3–Lag1 แล้วเรียนรู้ว่าค่าจริงของ เม.ย. คือ 181,314 คัน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1060704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Lag1 = เดือนก่อนหน้า 1 เดือน, Lag2 = ย้อนหลัง 2 เดือน, Lag3 = ย้อนหลัง 3 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3 เดือนแรกของชุดข้อมูลจะไม่มี Lag ครบ จึงถูก dropna() ออก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จาก 25 เดือนจึงเหลือข้อมูลสำหรับ Modeling = 22 เดือน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Train 70% / Test 30% ต้องแบ่งตามเวลา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Time Series ห้าม Shuffle แบบสุ่ม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1B334D"/>
                </a:solidFill>
                <a:latin typeface="Cordia New"/>
              </a:rPr>
              <a:t>22 เดือนสำหรับ Modeling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6675120" cy="91440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rdia New"/>
              </a:rPr>
              <a:t>TRAIN 15 เดือน
เม.ย. 2567 – มิ.ย. 2568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74519"/>
            <a:ext cx="3931920" cy="914400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rdia New"/>
              </a:rPr>
              <a:t>TEST 7 เดือน
ก.ค. 2568 – ม.ค. 2569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636F7A"/>
                </a:solidFill>
                <a:latin typeface="Cordia New"/>
              </a:rPr>
              <a:t>อดีต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971800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500" b="1" i="0">
                <a:solidFill>
                  <a:srgbClr val="636F7A"/>
                </a:solidFill>
                <a:latin typeface="Cordia New"/>
              </a:rPr>
              <a:t>อนาคต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0789920" cy="1554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Training ใช้เรียนรู้พารามิเตอร์/รูปแบบของโมเดล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Testing จำลองสถานการณ์จริง: โมเดลต้องพยากรณ์ช่วงเวลาที่ใหม่กว่าข้อมูลที่เคยเห็น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ถ้า Shuffle แบบสุ่ม อาจเกิด “ข้อมูลอนาคตไหลย้อนกลับไปอยู่ใน Training” ทำให้การประเมินดูดีกว่าความเป็นจริง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49240"/>
            <a:ext cx="10424160" cy="59436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000" b="1" i="0">
                <a:solidFill>
                  <a:srgbClr val="1B334D"/>
                </a:solidFill>
                <a:latin typeface="Cordia New"/>
              </a:rPr>
              <a:t>Time-based split = หลักสำคัญที่สุดข้อหนึ่งของ Time Series Evaluation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โมเดลทั้ง 5 แบบต่างกันอย่างไร?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เปรียบเทียบก่อนเลือก Best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88720"/>
          <a:ext cx="113842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แนวคิด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ข้อสังเกต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Naïve Forecast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พรุ่งนี้ ≈ วันนี้ / เดือนหน้า ≈ เดือนล่าสุด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Baseline ที่ต้องชนะให้ได้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Linear Regression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ความสัมพันธ์เชิงเส้นของ Lag1–Lag3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ง่าย อธิบายได้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Ridge Regression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Linear + penalty ลดค่าสัมประสิทธิ์มากเกินไป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ช่วยลด overfitting บางกรณี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Random Forest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ค่าเฉลี่ยจาก Decision Trees หลายต้น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จับ non-linear pattern ได้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Gradient Boosting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Trees ต่อเนื่อง แก้ error จากรอบก่อน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ยืดหยุ่นแต่ไวต่อข้อมูลน้อย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49240"/>
            <a:ext cx="10972800" cy="59436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หลักการเลือก: ประเมินทุกโมเดลบน Test Set เดียวกัน แล้วดู MAE / RMSE / R²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Random Forest ทำงานอย่างไร?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เหตุใดโมเดลนี้จึงให้ผลดีที่สุดใน Lab นี้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2468880" cy="45720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Input: Lag1, Lag2, Lag3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2834640" cy="68580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ordia New"/>
              </a:rPr>
              <a:t>Decision Tree 1
เรียนรู้กฎจากข้อมูลตัวอย่างบางส่วน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057400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880360"/>
            <a:ext cx="2834640" cy="685800"/>
          </a:xfrm>
          <a:prstGeom prst="roundRect">
            <a:avLst/>
          </a:prstGeom>
          <a:solidFill>
            <a:srgbClr val="2B6BBF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ordia New"/>
              </a:rPr>
              <a:t>Decision Tree 2
เรียนรู้กฎจากข้อมูลตัวอย่างบางส่วน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17520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840480"/>
            <a:ext cx="2834640" cy="685800"/>
          </a:xfrm>
          <a:prstGeom prst="roundRect">
            <a:avLst/>
          </a:prstGeom>
          <a:solidFill>
            <a:srgbClr val="6F4EAC"/>
          </a:solidFill>
          <a:ln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Cordia New"/>
              </a:rPr>
              <a:t>Decision Tree 3
เรียนรู้กฎจากข้อมูลตัวอย่างบางส่วน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977640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617720"/>
            <a:ext cx="1371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636F7A"/>
                </a:solidFill>
                <a:latin typeface="Cordia New"/>
              </a:rPr>
              <a:t>… หลายต้น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43200"/>
            <a:ext cx="2926080" cy="822960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เฉลี่ยผลพยากรณ์ของทุกต้น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017520"/>
            <a:ext cx="457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2880360"/>
            <a:ext cx="960120" cy="548640"/>
          </a:xfrm>
          <a:prstGeom prst="roundRect">
            <a:avLst/>
          </a:prstGeom>
          <a:solidFill>
            <a:srgbClr val="369759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10698480" cy="10058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แต่ละต้นเห็นข้อมูล/ตัวแปรแบบสุ่มบางส่วน → ลดความเสี่ยงที่ต้นเดียวตัดสินใจผิดทั้งหมด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สามารถจับความสัมพันธ์ที่ไม่เป็นเส้นตรงของ Lag1–Lag3 ได้ดีกว่า Linear Regression ในข้อมูลชุดนี้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อย่างไรก็ตาม Random Forest ไม่ได้ “เข้าใจฤดูกาล” โดยตรง ถ้าเราไม่ใส่ feature ของฤดูกาลหรือข้อมูลย้อนหลังที่พอเพียง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Metrics ที่ใช้ตัดสินโมเดล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MAE, RMSE และ R² ต้องอ่านอย่างไร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50" b="1" i="0">
                          <a:solidFill>
                            <a:srgbClr val="FFFFFF"/>
                          </a:solidFill>
                          <a:latin typeface="Cordia New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ordia New"/>
                        </a:rPr>
                        <a:t>แนวคิด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ordia New"/>
                        </a:rPr>
                        <a:t>ใน Lab นี้ควรตีความ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MAE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ค่าเฉลี่ย |Actual − Forecast|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หน่วยเป็น “คัน”; ยิ่งต่ำยิ่งดี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RMSE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ยกกำลังสอง error ก่อนเฉลี่ย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ลงโทษเดือนที่ผิดมากเป็นพิเศษ; ยิ่งต่ำยิ่งดี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R²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เทียบกับ baseline ที่ใช้ค่าเฉลี่ยของ Test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2F3A45"/>
                          </a:solidFill>
                          <a:latin typeface="Cordia New"/>
                        </a:rPr>
                        <a:t>1 ดีมาก, 0 พอ ๆ กับค่าเฉลี่ย, &lt;0 แย่กว่าค่าเฉลี่ย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86200"/>
            <a:ext cx="320040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MAE = (1/n) Σ |y − ŷ|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886200"/>
            <a:ext cx="338328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RMSE = √[(1/n) Σ (y − ŷ)²]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86200"/>
            <a:ext cx="246888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R² = 1 − SSE/SST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800600"/>
            <a:ext cx="9692640" cy="59436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100" b="1" i="0">
                <a:solidFill>
                  <a:srgbClr val="C9453D"/>
                </a:solidFill>
                <a:latin typeface="Cordia New"/>
              </a:rPr>
              <a:t>ข้อควรจำ: R² = 0.204 ไม่ใช่ “Accuracy 20.4%”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59552"/>
            <a:ext cx="10058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007A74"/>
                </a:solidFill>
                <a:latin typeface="Cordia New"/>
              </a:rPr>
              <a:t>ใน Lab นี้เราใช้ MAE ต่ำสุดเป็นเกณฑ์หลัก และดู RMSE/R² ประกอบ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ผลเปรียบเทียบโมเดลจริง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Random Forest มี MAE และ RMSE ต่ำที่สุด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73152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MAE ↓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RMSE ↓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ordia New"/>
                        </a:rPr>
                        <a:t>R² ↑</a:t>
                      </a:r>
                    </a:p>
                  </a:txBody>
                  <a:tcPr marL="36576" marR="36576" marT="18288" marB="18288">
                    <a:solidFill>
                      <a:srgbClr val="00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7A74"/>
                          </a:solidFill>
                          <a:latin typeface="Cordia New"/>
                        </a:rPr>
                        <a:t>Random Forest</a:t>
                      </a:r>
                    </a:p>
                  </a:txBody>
                  <a:tcPr marL="36576" marR="36576" marT="18288" marB="18288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07A74"/>
                          </a:solidFill>
                          <a:latin typeface="Cordia New"/>
                        </a:rPr>
                        <a:t>14,208.36</a:t>
                      </a:r>
                    </a:p>
                  </a:txBody>
                  <a:tcPr marL="36576" marR="36576" marT="18288" marB="18288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07A74"/>
                          </a:solidFill>
                          <a:latin typeface="Cordia New"/>
                        </a:rPr>
                        <a:t>20,836.62</a:t>
                      </a:r>
                    </a:p>
                  </a:txBody>
                  <a:tcPr marL="36576" marR="36576" marT="18288" marB="18288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007A74"/>
                          </a:solidFill>
                          <a:latin typeface="Cordia New"/>
                        </a:rPr>
                        <a:t>0.2040</a:t>
                      </a:r>
                    </a:p>
                  </a:txBody>
                  <a:tcPr marL="36576" marR="36576" marT="18288" marB="18288">
                    <a:solidFill>
                      <a:srgbClr val="E9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Naïve Forecast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17,702.86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26,974.23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-0.3340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Gradient Boosting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17,781.42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26,939.84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-0.3306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Ridge Regression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18,002.43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23,781.44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-0.0369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Linear Regression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18,002.43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23,781.44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F3A45"/>
                          </a:solidFill>
                          <a:latin typeface="Cordia New"/>
                        </a:rPr>
                        <a:t>-0.0369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320" y="1417320"/>
            <a:ext cx="2651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Best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74519"/>
            <a:ext cx="2834640" cy="658368"/>
          </a:xfrm>
          <a:prstGeom prst="roundRect">
            <a:avLst/>
          </a:prstGeom>
          <a:solidFill>
            <a:srgbClr val="369759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ordia New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26517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007A74"/>
                </a:solidFill>
                <a:latin typeface="Cordia New"/>
              </a:rPr>
              <a:t>MAE 14,208.36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200400"/>
            <a:ext cx="26517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2B6BBF"/>
                </a:solidFill>
                <a:latin typeface="Cordia New"/>
              </a:rPr>
              <a:t>RMSE 20,836.62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657600"/>
            <a:ext cx="265176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1" i="0">
                <a:solidFill>
                  <a:srgbClr val="6F4EAC"/>
                </a:solidFill>
                <a:latin typeface="Cordia New"/>
              </a:rPr>
              <a:t>R² 0.2040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10698480" cy="11430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Random Forest ผิดเฉลี่ยประมาณ 14,208 คันต่อเดือนบน Test Set 7 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RMSE สูงกว่า MAE แสดงว่ามีบางเดือนที่ error ใหญ่กว่าปกติ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R² เป็นบวกเพียง 0.204 → โมเดลยังอธิบายความผันผวนได้จำกัด จึงควรเรียกว่า “best among tested models” ไม่ใช่โมเดลสมบูรณ์แบบ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ทำไมเลือก Random Forest? และต้องระวังอะไร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เลือกจาก Test Set เดียวกัน แต่ข้อมูลยังมีขนาดเล็ก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03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369759"/>
                </a:solidFill>
                <a:latin typeface="Cordia New"/>
              </a:rPr>
              <a:t>เหตุผลที่เลือก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5120640" cy="19202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MAE ต่ำที่สุด = 14,208.36 คัน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RMSE ต่ำที่สุด = 20,836.62 คัน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R² สูงที่สุดในชุดที่ทดลอง = 0.2040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ผลทั้งหมดคำนวณบน Test Set 7 เดือนเดียวกัน จึงเปรียบเทียบได้ยุติธรรม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48463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C9453D"/>
                </a:solidFill>
                <a:latin typeface="Cordia New"/>
              </a:rPr>
              <a:t>ข้อควรระวัง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846320" cy="2240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Training มีเพียง 15 เดือน และ Testing มีเพียง 7 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เราใช้ Test เพื่อเลือกโมเดลด้วย → สำหรับงานวิจัยควรมี Validation แยกต่างหาก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Features มีเพียง Lag1–Lag3 จึงยังไม่รวมฤดูกาล เศรษฐกิจ โปรโมชั่น หรือปัจจัยภายนอก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ผลนี้เหมาะกับ Lab เพื่อเรียน Workflow มากกว่าการใช้งาน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515600" cy="86868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คำที่ควรใช้ในรายงาน: “Random Forest ให้ผลดีที่สุดในกลุ่มโมเดลที่ทดลอง ภายใต้ข้อมูลและการแบ่งชุดข้อมูลครั้งนี้”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Actual vs Forecast — อ่านผลทีละเดือน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ดูว่าโมเดลผิดพลาดช่วงใด ไม่ใช่ดูค่าเฉลี่ยอย่างเดียว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75895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เดือน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Actual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Random Forest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Error (Forecast−Actual)</a:t>
                      </a:r>
                    </a:p>
                  </a:txBody>
                  <a:tcPr marL="36576" marR="36576" marT="18288" marB="18288">
                    <a:solidFill>
                      <a:srgbClr val="2B6B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ก.ค. 2568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201,436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204,423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+2,987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ส.ค. 2568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182,449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196,085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+13,636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ก.ย. 2568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188,713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188,310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−403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ต.ค. 2568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185,344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193,992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+8,648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พ.ย. 2568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177,066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188,838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+11,772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ธ.ค. 2568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184,093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196,284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+12,191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 2569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250,212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200,391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−49,821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325880"/>
            <a:ext cx="22860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000" b="1" i="0">
                <a:solidFill>
                  <a:srgbClr val="007A74"/>
                </a:solidFill>
                <a:latin typeface="Cordia New"/>
              </a:rPr>
              <a:t>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2743200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ก.ย. 2568 ใกล้เคียงมาก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หลายเดือนโมเดลสูงกว่าค่าจริงเล็กน้อย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ม.ค. 2569 โมเดลต่ำกว่าค่าจริงมาก ≈ 49,821 คัน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เดือนที่ผิดมาก 1 เดือนสามารถดัน RMSE ให้สูงขึ้นชัดเจน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617720"/>
            <a:ext cx="2926080" cy="96012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1B334D"/>
                </a:solidFill>
                <a:latin typeface="Cordia New"/>
              </a:rPr>
              <a:t>การวิเคราะห์ residual รายเดือนช่วยบอก “จุดอ่อนของโมเดล” ได้ดีกว่าดู Metric ค่าเดียว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กรณีเดือนมกราคม 2569: ทำไมพยากรณ์ไม่ทันการพุ่งขึ้น?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ตัวอย่างข้อจำกัดของโมเดลที่ใช้ Lag1–Lag3 เพียงอย่างเดียว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INTERPRET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9202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636F7A"/>
                </a:solidFill>
                <a:latin typeface="Cordia New"/>
              </a:rPr>
              <a:t>Actual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011680" cy="77724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Cordia New"/>
              </a:rPr>
              <a:t>250,212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19202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636F7A"/>
                </a:solidFill>
                <a:latin typeface="Cordia New"/>
              </a:rPr>
              <a:t>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011680" cy="777240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Cordia New"/>
              </a:rPr>
              <a:t>200,391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417320"/>
            <a:ext cx="19202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636F7A"/>
                </a:solidFill>
                <a:latin typeface="Cordia New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828800"/>
            <a:ext cx="2011680" cy="777240"/>
          </a:xfrm>
          <a:prstGeom prst="roundRect">
            <a:avLst/>
          </a:prstGeom>
          <a:solidFill>
            <a:srgbClr val="C9453D"/>
          </a:solidFill>
          <a:ln>
            <a:solidFill>
              <a:srgbClr val="C94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Cordia New"/>
              </a:rPr>
              <a:t>−49,821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325880"/>
            <a:ext cx="2926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เหตุผลเชิงโมเดลที่เป็นไปได้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828800"/>
            <a:ext cx="3108960" cy="2468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โมเดลเห็นเพียง 3 เดือนก่อนหน้า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Random Forest มักพยากรณ์อยู่ในช่วงค่าที่เคยเห็นใน Training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ไม่มี feature เดือน/ฤดูกาลหรือปัจจัยภายนอก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Training มีขนาดเล็ก จึงเรียนรู้เหตุการณ์พุ่งสูงได้จำกัด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86200"/>
            <a:ext cx="6217920" cy="64008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300" b="1" i="0">
                <a:solidFill>
                  <a:srgbClr val="1B334D"/>
                </a:solidFill>
                <a:latin typeface="Cordia New"/>
              </a:rPr>
              <a:t>ข้อสรุป: Best Model ≠ Perfect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754880"/>
            <a:ext cx="9875520" cy="82296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007A74"/>
                </a:solidFill>
                <a:latin typeface="Cordia New"/>
              </a:rPr>
              <a:t>สิ่งที่นักศึกษาควรเรียนรู้คือ “ต้องดูกราฟและ error รายช่วงเวลา” ไม่ใช่เลือกโมเดลจาก MAE แล้วจบ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ผลพยากรณ์เดือนกุมภาพันธ์ 2569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Final Random Forest ใช้ข้อมูลล่าสุด 3 เดือนเป็น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Feature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เดือน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ordia New"/>
                        </a:rPr>
                        <a:t>ค่าที่ป้อนให้โมเดล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Lag3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พ.ย. 2568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177,066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Lag2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ธ.ค. 2568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184,093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Lag1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ม.ค. 2569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F3A45"/>
                          </a:solidFill>
                          <a:latin typeface="Cordia New"/>
                        </a:rPr>
                        <a:t>250,212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66560" y="1508760"/>
            <a:ext cx="2103120" cy="594360"/>
          </a:xfrm>
          <a:prstGeom prst="roundRect">
            <a:avLst/>
          </a:prstGeom>
          <a:solidFill>
            <a:srgbClr val="369759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100" b="1" i="0">
                <a:solidFill>
                  <a:srgbClr val="FFFFFF"/>
                </a:solidFill>
                <a:latin typeface="Cordia New"/>
              </a:rP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645920"/>
            <a:ext cx="502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417320"/>
            <a:ext cx="1828800" cy="822960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500" b="1" i="0">
                <a:solidFill>
                  <a:srgbClr val="FFFFFF"/>
                </a:solidFill>
                <a:latin typeface="Cordia New"/>
              </a:rPr>
              <a:t>204,586 คัน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88920"/>
            <a:ext cx="2103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800" b="1" i="0">
                <a:solidFill>
                  <a:srgbClr val="1B334D"/>
                </a:solidFill>
                <a:latin typeface="Cordia New"/>
              </a:rPr>
              <a:t>เทียบกับ ม.ค. 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97480"/>
            <a:ext cx="2377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000" b="1" i="0">
                <a:solidFill>
                  <a:srgbClr val="2F3A45"/>
                </a:solidFill>
                <a:latin typeface="Cordia New"/>
              </a:rPr>
              <a:t>250,212 → 204,586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337560"/>
            <a:ext cx="4572000" cy="658368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2100" b="1" i="0">
                <a:solidFill>
                  <a:srgbClr val="C9453D"/>
                </a:solidFill>
                <a:latin typeface="Cordia New"/>
              </a:rPr>
              <a:t>ลดลง 45,626 คัน หรือประมาณ 18.2%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10698480" cy="1417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204,586 คือ “ค่าพยากรณ์จากโมเดล” ไม่ใช่ยอดจริง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ข้อมูลก.พ. 2569 ในไฟล์มีเพียง 18 คันจาก 6 records จึงยังใช้ตรวจความแม่นยำไม่ได้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70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ผลพยากรณ์นี้ควรใช้เพื่อสาธิต Workflow และการตีความ ไม่ควรนำไปตัดสินใจเชิงธุรกิจโดยลำพัง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1 — Import Libraries และ File Picker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อ่านทีละบรรทัด: เตรียมเครื่องมือและเลือกไฟล์จากหน้าต่าง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760720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import pandas as pd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from tkinter import Tk, filedialog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42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root = Tk()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root.withdraw()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root.attributes("-topmost", True)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42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file_path = filedialog.askopenfilename(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    title="เลือก Dataset รถจดทะเบียนของกรมการขนส่งทางบก",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    filetypes=[("CSV Files", "*.csv")]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root.destroy()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1371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007A74"/>
                </a:solidFill>
                <a:latin typeface="Cordia New"/>
              </a:rPr>
              <a:t>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846320" cy="3611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`import pandas as pd` — เรียก pandas และใช้ชื่อย่อ pd สำหรับจัดการตารางข้อมูล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`Tk, filedialog` — ใช้เปิดหน้าต่างเลือกไฟล์แทนการพิมพ์ path เอง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`root.withdraw()` — ซ่อนหน้าต่าง Tk หลัก ไม่ให้มีหน้าต่างเปล่าโผล่ขึ้นมา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`-topmost` — ให้ dialog อยู่ด้านหน้าหน้าต่างอื่น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`askopenfilename(...)` — คืน path ของไฟล์ CSV ที่ผู้ใช้เลือกมาเก็บใน `file_path`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`root.destroy()` — ปิด object ของ Tk หลังเลือกไฟล์เสร็จ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440680"/>
            <a:ext cx="4663440" cy="50292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650" b="1" i="0">
                <a:solidFill>
                  <a:srgbClr val="1B334D"/>
                </a:solidFill>
                <a:latin typeface="Cordia New"/>
              </a:rPr>
              <a:t>ข้อดี: ลด FileNotFoundError จากการพิมพ์ path ผิด และเหมาะกับนักศึกษาที่ใช้เครื่องต่างกัน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2 — อ่าน CSV และตรวจสอบ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ตรวจจำนวน Records, Columns และตัวอย่างข้อมูลทันที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00" cy="329184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2F3A45"/>
                </a:solidFill>
                <a:latin typeface="Cordia New"/>
              </a:rPr>
              <a:t>df = pd.read_csv(file_path, encoding="utf-8-sig")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50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2F3A45"/>
                </a:solidFill>
                <a:latin typeface="Cordia New"/>
              </a:rPr>
              <a:t>print("จำนวน Records:", len(df))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2F3A45"/>
                </a:solidFill>
                <a:latin typeface="Cordia New"/>
              </a:rPr>
              <a:t>print("จำนวน Columns:", len(df.columns))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2F3A45"/>
                </a:solidFill>
                <a:latin typeface="Cordia New"/>
              </a:rPr>
              <a:t>print("ชื่อคอลัมน์:", df.columns.tolist())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50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2F3A45"/>
                </a:solidFill>
                <a:latin typeface="Cordia New"/>
              </a:rPr>
              <a:t>display(df.head())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2560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BBF"/>
                </a:solidFill>
                <a:latin typeface="Cordia New"/>
              </a:rPr>
              <a:t>ความหมายทีละคำสั่ง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937760" cy="30632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`pd.read_csv(...)` — อ่าน CSV เป็น DataFrame ชื่อ `df`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`encoding="utf-8-sig"` — รองรับภาษาไทยและไฟล์ CSV ที่มี BOM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`len(df)` — จำนวนแถว = 68,398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`len(df.columns)` — จำนวนคอลัมน์ = 9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`df.columns.tolist()` — ตรวจชื่อคอลัมน์ก่อนอ้างอิงในโค้ดต่อไป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`df.head()` — แสดง 5 แถวแรกเพื่อตรวจว่าอ่านข้อมูลถูกจริง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149840" cy="59436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1B334D"/>
                </a:solidFill>
                <a:latin typeface="Cordia New"/>
              </a:rPr>
              <a:t>หลักปฏิบัติที่ดี: อย่าเริ่ม Modeling จนกว่าจะตรวจ shape + column names + sample rows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3 — Aggregate และตรวจ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groupby → sum → Date → missing months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6400800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monthly = 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df.groupby(["Source_Year_BE", "Source_Month"], as_index=False)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  .agg(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      TotalRegistrations=("จำนวน", "sum"),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      Records=("จำนวน", "size")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  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  .sort_values(["Source_Year_BE", "Source_Month"])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7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monthly["Date"] = pd.to_datetime(dict(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year=monthly["Source_Year_BE"] - 543,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    month=monthly["Source_Month"], day=1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70" b="0" i="0">
                <a:solidFill>
                  <a:srgbClr val="2F3A45"/>
                </a:solidFill>
                <a:latin typeface="Cordia New"/>
              </a:rPr>
              <a:t>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80160"/>
            <a:ext cx="1828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007A74"/>
                </a:solidFill>
                <a:latin typeface="Cordia New"/>
              </a:rPr>
              <a:t>อธิบายหลัก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83080"/>
            <a:ext cx="4434840" cy="3246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`groupby([ปี, เดือน])` — รวมทุกแถวที่อยู่เดือนเดียวกันเป็นกลุ่มเดียว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`sum` — รวมคอลัมน์ จำนวน ให้เป็นยอดรถทั้งเดือน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`size` — นับว่าหนึ่งเดือนมี raw records กี่แถว เพื่อช่วยตรวจความครบถ้วน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`sort_values` — เรียงตามปีและเดือนก่อนสร้าง Time Series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`ปี พ.ศ. - 543` — แปลงเป็น ค.ศ. เพื่อสร้าง datetime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`pd.to_datetime` — สร้างคอลัมน์ Date เช่น 2025-07-01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5120640"/>
            <a:ext cx="4206240" cy="50292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50" b="1" i="0">
                <a:solidFill>
                  <a:srgbClr val="1B334D"/>
                </a:solidFill>
                <a:latin typeface="Cordia New"/>
              </a:rPr>
              <a:t>ผลลัพธ์สำคัญ: Raw 68,398 rows → Monthly 49 rows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4 — เลือกช่วงข้อมูลและสร้าง Lag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เตรียม X และ y สำหรับ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6400800" cy="443484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forecast_data = monthly[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    (monthly["Date"] &gt;= "2024-01-01") &amp;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    (monthly["Date"] &lt;= "2026-01-01")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].copy().sort_values("Date")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6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model_data = forecast_data[["Date", "TotalRegistrations"]].copy()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model_data["Lag1"] = model_data["TotalRegistrations"].shift(1)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model_data["Lag2"] = model_data["TotalRegistrations"].shift(2)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model_data["Lag3"] = model_data["TotalRegistrations"].shift(3)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60" b="0" i="0">
                <a:solidFill>
                  <a:srgbClr val="2F3A45"/>
                </a:solidFill>
                <a:latin typeface="Cordia New"/>
              </a:rPr>
              <a:t>model_data = model_data.dropna().reset_index(drop=True)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2801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6F4EAC"/>
                </a:solidFill>
                <a:latin typeface="Cordia New"/>
              </a:rPr>
              <a:t>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83080"/>
            <a:ext cx="4480560" cy="3246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Boolean condition เลือกเฉพาะช่วงเวลาที่ต่อเนื่องและข้อมูลครบ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`.copy()` ป้องกันปัญหาแก้ DataFrame ต้นฉบับโดยไม่ตั้งใจ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`.shift(1)` ย้ายค่าเดือนก่อนหน้ามาอยู่แถวปัจจุบัน = Lag1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`.shift(2)`, `.shift(3)` ทำแบบเดียวกันสำหรับย้อนหลัง 2–3 เดือน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`dropna()` ลบ 3 แถวแรกที่ยังไม่มี Lag ครบ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`reset_index(drop=True)` จัด index ใหม่ให้เริ่ม 0 ต่อเนื่อง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5120640"/>
            <a:ext cx="4251960" cy="50292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30" b="1" i="0">
                <a:solidFill>
                  <a:srgbClr val="1B334D"/>
                </a:solidFill>
                <a:latin typeface="Cordia New"/>
              </a:rPr>
              <a:t>25 เดือน → หลังสร้าง 3 Lags เหลือ 22 ตัวอย่างสำหรับ Modeling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5 — แบ่ง Training 70% / Testing 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แบ่งตามตำแหน่งเวลา ไม่ใช้ random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669280" cy="420624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features = ["Lag1", "Lag2", "Lag3"]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target = "TotalRegistrations"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42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split_index = int(len(model_data) * 0.70)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42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train = model_data.iloc[:split_index].copy()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test  = model_data.iloc[split_index:].copy()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42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X_train = train[features]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y_train = train[target]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X_test  = test[features]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420" b="0" i="0">
                <a:solidFill>
                  <a:srgbClr val="2F3A45"/>
                </a:solidFill>
                <a:latin typeface="Cordia New"/>
              </a:rPr>
              <a:t>y_test  = test[target]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1371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E08429"/>
                </a:solidFill>
                <a:latin typeface="Cordia New"/>
              </a:rPr>
              <a:t>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80" cy="3246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`features` คือ input 3 คอลัมน์ที่โมเดลใช้พยากรณ์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`target` คือค่าที่ต้องการทำนาย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`int(len(...) * 0.70)` คำนวณตำแหน่งแบ่ง 70%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`iloc[:split_index]` เลือก “ช่วงแรก” เป็น Training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`iloc[split_index:]` เลือก “ช่วงหลัง” เป็น Testing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แยก X และ y เพื่อให้ API ของ scikit-learn ใช้ `fit(X_train, y_train)` 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5166360"/>
            <a:ext cx="4389120" cy="50292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1B334D"/>
                </a:solidFill>
                <a:latin typeface="Cordia New"/>
              </a:rPr>
              <a:t>ผลจริง: Train = 15 เดือน | Test = 7 เดือน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6 — กำหนดโมเดลหลายแบบ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ใช้ dictionary เพื่อ Train และ Compare ด้วยโค้ดชุดเดียว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6217920" cy="457200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models = {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"Linear Regression": LinearRegression(),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"Ridge Regression": Ridge(alpha=1.0),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"Random Forest": RandomForestRegressor(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n_estimators=100,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max_depth=3,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random_state=42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"Gradient Boosting": GradientBoostingRegressor(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n_estimators=100,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learning_rate=0.05,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max_depth=2,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    random_state=42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    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50" b="0" i="0">
                <a:solidFill>
                  <a:srgbClr val="2F3A45"/>
                </a:solidFill>
                <a:latin typeface="Cordia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280160"/>
            <a:ext cx="2011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2B6BBF"/>
                </a:solidFill>
                <a:latin typeface="Cordia New"/>
              </a:rPr>
              <a:t>Parameter 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4389120" cy="2651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`alpha=1.0` — ความแรงของ Ridge penalty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`n_estimators=100` — จำนวนต้นไม้/รอบ boosting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`max_depth` — จำกัดความซับซ้อนของต้นไม้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`learning_rate=0.05` — ขนาดการแก้ไขในแต่ละรอบของ Gradient Boosting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`random_state=42` — ทำให้ผลสุ่มทำซ้ำได้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617720"/>
            <a:ext cx="4480560" cy="86868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1B334D"/>
                </a:solidFill>
                <a:latin typeface="Cordia New"/>
              </a:rPr>
              <a:t>Naïve Forecast แยกออกจาก dictionary เพราะไม่ต้อง fit โมเดล: ใช้ Lag1 เป็นค่าพยากรณ์โดยตรง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7 — Train, Predict และวัดผลทุกโมเดล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Loop เดียวทำให้การเปรียบเทียบยุติธรรมและลดโค้ดซ้ำ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6309360" cy="470916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results = []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predictions = {}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3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for name, model in models.items():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model.fit(X_train, y_train)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y_pred = model.predict(X_test)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predictions[name] = y_pred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3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results.append({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    "Model": name,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    "MAE": mean_absolute_error(y_test, y_pred),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    "RMSE": np.sqrt(mean_squared_error(y_test, y_pred)),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    "R2": r2_score(y_test, y_pred)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30" b="0" i="0">
                <a:solidFill>
                  <a:srgbClr val="2F3A45"/>
                </a:solidFill>
                <a:latin typeface="Cordia New"/>
              </a:rPr>
              <a:t>  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280160"/>
            <a:ext cx="19202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007A74"/>
                </a:solidFill>
                <a:latin typeface="Cordia New"/>
              </a:rPr>
              <a:t>อธิบาย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83080"/>
            <a:ext cx="4434840" cy="33832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`models.items()` ส่งทั้งชื่อและ object ของโมเดลออกมาทีละตัว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`fit(...)` ให้โมเดลเรียนรู้จาก Training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`predict(X_test)` สร้างค่าพยากรณ์ของ 7 เดือน Testing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`predictions[name]` เก็บค่าพยากรณ์ไว้ใช้วาดกราฟภายหลัง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`results.append({...})` เก็บ Metric แต่ละโมเดลไว้สร้างตาราง comparison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1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ทุกโมเดลใช้ X_train/X_test เดียวกัน จึงเปรียบเทียบได้ตรงกัน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8 — เลือก Best Model และ Retrain ด้วยข้อมูลทั้งหมด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เลือกหลัง Evaluation แล้วจึงสร้าง Final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52160" cy="438912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comparison = pd.DataFrame(results)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comparison = comparison.sort_values(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"MAE", ascending=True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).reset_index(drop=True)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8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best_model_name = comparison.iloc[0]["Model"]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8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final_model = models[best_model_name]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final_model.fit(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model_data[["Lag1", "Lag2", "Lag3"]],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model_data["TotalRegistrations"]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1828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369759"/>
                </a:solidFill>
                <a:latin typeface="Cordia New"/>
              </a:rPr>
              <a:t>ลำดับความคิด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572000" cy="3108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1) แปลง `results` เป็น DataFrame เพื่อดูเป็นตาราง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2) `sort_values("MAE")` เรียงจาก error ต่ำไปสูง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3) `iloc[0]` เลือกแถวแรก = Best Model ตามเกณฑ์ MAE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4) หลังเลือกแล้ว Retrain Best Model ด้วยข้อมูล Modeling ทั้งหมด 22 เดือน เพื่อใช้ข้อมูลที่มีให้คุ้มที่สุดก่อน Forecast Future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5074920"/>
            <a:ext cx="4389120" cy="502920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C9453D"/>
                </a:solidFill>
                <a:latin typeface="Cordia New"/>
              </a:rPr>
              <a:t>ข้อสำคัญ: ห้ามใช้ Future actual value มาฝึก Final Model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9 — สร้าง Input ของเดือนอนาคตและ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ใช้ 3 เดือนล่าสุดเป็น Lag1–Lag3 ของก.พ.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5852160" cy="429768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latest = forecast_data["TotalRegistrations"].iloc[-3:]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8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future_data = pd.DataFrame({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"Lag1": [latest.iloc[-1]],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"Lag2": [latest.iloc[-2]],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"Lag3": [latest.iloc[-3]]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})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38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future_prediction = final_model.predict(future_data)[0]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forecast_month = (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forecast_data["Date"].max()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    + pd.DateOffset(months=1)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380" b="0" i="0">
                <a:solidFill>
                  <a:srgbClr val="2F3A45"/>
                </a:solidFill>
                <a:latin typeface="Cordia New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2103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6F4EAC"/>
                </a:solidFill>
                <a:latin typeface="Cordia New"/>
              </a:rPr>
              <a:t>Mapping ของค่า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783080"/>
          <a:ext cx="45720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Code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ordia New"/>
                        </a:rPr>
                        <a:t>ค่าจริง</a:t>
                      </a:r>
                    </a:p>
                  </a:txBody>
                  <a:tcPr marL="36576" marR="36576" marT="18288" marB="18288">
                    <a:solidFill>
                      <a:srgbClr val="6F4E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latest.iloc[-1]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250,212 = ม.ค. 2569 = Lag1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latest.iloc[-2]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184,093 = ธ.ค. 2568 = Lag2</a:t>
                      </a:r>
                    </a:p>
                  </a:txBody>
                  <a:tcPr marL="36576" marR="36576" marT="18288" marB="18288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latest.iloc[-3]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F3A45"/>
                          </a:solidFill>
                          <a:latin typeface="Cordia New"/>
                        </a:rPr>
                        <a:t>177,066 = พ.ย. 2568 = Lag3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75120" y="4434840"/>
            <a:ext cx="4389120" cy="59436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700" b="1" i="0">
                <a:solidFill>
                  <a:srgbClr val="1B334D"/>
                </a:solidFill>
                <a:latin typeface="Cordia New"/>
              </a:rPr>
              <a:t>`predict(...)[0]` คืนค่าพยากรณ์ของแถวเดียว = 204,586 คัน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66360"/>
            <a:ext cx="4389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50" b="1" i="0">
                <a:solidFill>
                  <a:srgbClr val="007A74"/>
                </a:solidFill>
                <a:latin typeface="Cordia New"/>
              </a:rPr>
              <a:t>`DateOffset(months=1)` สร้างเดือนถัดจาก Jan 2026 → Feb 2026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Python Code 10 — Export ผลไป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สร้างไฟล์ที่มี History, Test Forecast และ Future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6583680" cy="4800600"/>
          </a:xfrm>
          <a:prstGeom prst="roundRect">
            <a:avLst/>
          </a:prstGeom>
          <a:solidFill>
            <a:srgbClr val="F7F8FA"/>
          </a:solidFill>
          <a:ln>
            <a:solidFill>
              <a:srgbClr val="D4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powerbi = forecast_data[["Date", "TotalRegistrations"]].copy()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powerbi = powerbi.rename(columns={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"TotalRegistrations": "ActualRegistrations"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})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powerbi["ForecastRegistrations"] = np.nan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powerbi["DatasetSegment"] = "History"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27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powerbi.loc[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powerbi["Date"].isin(test["Date"]),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"ForecastRegistrations"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] = predictions["Random Forest"]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endParaRPr sz="1270" b="0" i="0">
              <a:solidFill>
                <a:srgbClr val="2F3A45"/>
              </a:solidFill>
              <a:latin typeface="Cordia New"/>
            </a:endParaRP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future_row = pd.DataFrame({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"Date": [forecast_month],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"ActualRegistrations": [np.nan],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"ForecastRegistrations": [future_prediction],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    "DatasetSegment": ["Future"]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sz="1270" b="0" i="0">
                <a:solidFill>
                  <a:srgbClr val="2F3A45"/>
                </a:solidFill>
                <a:latin typeface="Cordia New"/>
              </a:rPr>
              <a:t>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80160"/>
            <a:ext cx="28346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E08429"/>
                </a:solidFill>
                <a:latin typeface="Cordia New"/>
              </a:rPr>
              <a:t>เหตุผลของโครงสร้างไฟล์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83080"/>
            <a:ext cx="4389120" cy="32461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`ActualRegistrations` — เส้นค่าจริงใน Power BI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`ForecastRegistrations` — เส้นผลพยากรณ์เฉพาะช่วง Test + Future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`DatasetSegment` — แยก History / Test / Future เพื่อใช้ Filter และ Card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`np.nan` — ช่องว่างที่ “ไม่มีค่าจริง/ไม่มี forecast” เพื่อไม่ให้ Power BI วาดข้อมูลเทียม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52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Future row มี Actual = NaN และ Forecast = 204,586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5212080"/>
            <a:ext cx="4297680" cy="54864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620" b="1" i="0">
                <a:solidFill>
                  <a:srgbClr val="1B334D"/>
                </a:solidFill>
                <a:latin typeface="Cordia New"/>
              </a:rPr>
              <a:t>ผลลัพธ์: DLT_Vehicle_Forecast_PowerBI.csv พร้อมใช้สร้าง Actual vs Forecast + Forecast Card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นักศึกษาต้องอธิบายผลให้ได้ ไม่ใช่แค่รัน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Checklist สำหรับการอ่านผลด้วยตนเอง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SELF-STUDY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40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ทำไมต้อง Aggregate รายเดือน?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เพราะโจทย์พยากรณ์ 1 ค่าต่อ 1 เดือน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234440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ทำไมใช้ Lag1–Lag3?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54480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เพื่อให้ ML เห็นข้อมูลย้อนหลังเป็น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41448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4144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ทำไม Train/Test ห้าม Shuffle?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61488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เพื่อไม่ให้ข้อมูลอนาคตไหลย้อนเข้า 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441448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44144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ทำไมเลือก Random Forest?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61488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MAE/RMSE ต่ำที่สุดในกลุ่มที่ทดลอง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48456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48456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MAE 14,208 หมายความว่าอะไร?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968496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ผิดเฉลี่ยประมาณ 14,208 คันต่อเดือนใน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48456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648456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R² 0.204 หมายความว่าอะไร?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968496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อธิบายความผันผวนได้จำกัด ไม่ใช่ Accuracy 20.4%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55464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55464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204,586 คืออะไร?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75504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Forecast ของก.พ. 2569 ไม่ใช่ Actual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855464"/>
            <a:ext cx="502920" cy="502920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rdia New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55464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50" b="1" i="0">
                <a:solidFill>
                  <a:srgbClr val="1B334D"/>
                </a:solidFill>
                <a:latin typeface="Cordia New"/>
              </a:rPr>
              <a:t>ข้อจำกัดหลักคืออะไร?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175504"/>
            <a:ext cx="4709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ข้อมูลน้อย + 3 lags + ไม่มีปัจจัยภายนอก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คำถามท้าย Lab — ใช้ตรวจความเข้าใจ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ให้นักศึกษาตอบจากข้อมูลและผลที่รันได้จริง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SELF-STUDY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881360" cy="5029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1. ถ้าเปลี่ยน Lag จาก 3 เดือนเป็น 6 เดือน จำนวนตัวอย่างสำหรับ Modeling จะเปลี่ยนอย่างไร?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2. เพราะเหตุใด Naïve Forecast จึงควรอยู่ในตารางเปรียบเทียบเสมอ?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3. ถ้าโมเดลใหม่ MAE ต่ำกว่า Random Forest แต่ RMSE สูงกว่า ควรพิจารณาอย่างไร?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4. เดือนมกราคม 2569 ทำให้ RMSE สูงขึ้นเพราะอะไร?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5. ถ้ามีข้อมูลย้อนหลัง 5 ปี ควรเพิ่ม feature อะไรเพื่อจับ Seasonality?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6. ถ้าต้องใช้ผลจริงเชิงธุรกิจ ควรเพิ่ม Validation และข้อมูลภายนอกประเภทใด?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7. อธิบายความแตกต่างระหว่าง Actual, Test Forecast และ Future Forecast ในไฟล์ Power BI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F3A45"/>
                </a:solidFill>
                <a:latin typeface="Cordia New"/>
              </a:defRPr>
            </a:pPr>
            <a:r>
              <a:rPr>
                <a:latin typeface="Cordia New"/>
              </a:rPr>
              <a:t>8. อธิบายว่าทำไมค่า 204,586 ไม่ควรถูกเรียกว่า “ยอดจริงก.พ. 2569”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90525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1B334D"/>
                </a:solidFill>
                <a:latin typeface="Cordia New"/>
              </a:rPr>
              <a:t>สรุป: จากข้อมูลดิบสู่ Forecast ที่อธิบายได้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58952"/>
            <a:ext cx="969264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636F7A"/>
                </a:solidFill>
                <a:latin typeface="Cordia New"/>
              </a:rPr>
              <a:t>นักศึกษาควรเข้าใจทั้ง Workflow, Code และข้อจำกัดของผลลัพธ์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22992" y="338328"/>
            <a:ext cx="1307592" cy="310896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rdia New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100">
                <a:latin typeface="Cordia New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6473952"/>
            <a:ext cx="566928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636F7A"/>
                </a:solidFill>
                <a:latin typeface="Cordia New"/>
              </a:rPr>
              <a:t>Lab: Vehicle Registration Forecasting | Jupyter Notebook + 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011680" cy="658368"/>
          </a:xfrm>
          <a:prstGeom prst="roundRect">
            <a:avLst/>
          </a:prstGeom>
          <a:solidFill>
            <a:srgbClr val="2B6BBF"/>
          </a:solidFill>
          <a:ln>
            <a:solidFill>
              <a:srgbClr val="2B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68,398 Raw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1508760" cy="658368"/>
          </a:xfrm>
          <a:prstGeom prst="roundRect">
            <a:avLst/>
          </a:prstGeom>
          <a:solidFill>
            <a:srgbClr val="007A74"/>
          </a:solidFill>
          <a:ln>
            <a:solidFill>
              <a:srgbClr val="00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49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508760"/>
            <a:ext cx="1828800" cy="658368"/>
          </a:xfrm>
          <a:prstGeom prst="roundRect">
            <a:avLst/>
          </a:prstGeom>
          <a:solidFill>
            <a:srgbClr val="6F4EAC"/>
          </a:solidFill>
          <a:ln>
            <a:solidFill>
              <a:srgbClr val="6F4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25 Clean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916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1417320" cy="658368"/>
          </a:xfrm>
          <a:prstGeom prst="roundRect">
            <a:avLst/>
          </a:prstGeom>
          <a:solidFill>
            <a:srgbClr val="E08429"/>
          </a:solidFill>
          <a:ln>
            <a:solidFill>
              <a:srgbClr val="E08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5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 i="0">
                <a:solidFill>
                  <a:srgbClr val="636F7A"/>
                </a:solidFill>
                <a:latin typeface="Cordia New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417320"/>
            <a:ext cx="1691640" cy="841248"/>
          </a:xfrm>
          <a:prstGeom prst="roundRect">
            <a:avLst/>
          </a:prstGeom>
          <a:solidFill>
            <a:srgbClr val="369759"/>
          </a:solidFill>
          <a:ln>
            <a:solidFill>
              <a:srgbClr val="369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rdia New"/>
              </a:rPr>
              <a:t>RF Forecast
204,586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 i="0">
                <a:solidFill>
                  <a:srgbClr val="1B334D"/>
                </a:solidFill>
                <a:latin typeface="Cordia New"/>
              </a:rPr>
              <a:t>ประโยคสรุปที่ถูกต้อง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10607040" cy="1508760"/>
          </a:xfrm>
          <a:prstGeom prst="roundRect">
            <a:avLst/>
          </a:prstGeom>
          <a:solidFill>
            <a:srgbClr val="E9F2F1"/>
          </a:solidFill>
          <a:ln>
            <a:solidFill>
              <a:srgbClr val="E9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800" b="1" i="0">
                <a:solidFill>
                  <a:srgbClr val="007A74"/>
                </a:solidFill>
                <a:latin typeface="Cordia New"/>
              </a:rPr>
              <a:t>จากการเปรียบเทียบ 5 วิธีบน Test Set 7 เดือน Random Forest ให้ MAE และ RMSE ต่ำที่สุดในกลุ่มที่ทดลอง จึงถูกเลือกเป็นโมเดลสำหรับ Lab และพยากรณ์จำนวนรถจดทะเบียนเดือนกุมภาพันธ์ 2569 ได้ 204,586 คัน อย่างไรก็ตาม ข้อมูลมีจำนวนเดือนจำกัดและใช้เพียง Lag1–Lag3 ผลนี้จึงเป็นการทดลองเชิงการเรียนรู้ ไม่ใช่ Production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66360"/>
            <a:ext cx="10058400" cy="713232"/>
          </a:xfrm>
          <a:prstGeom prst="round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/>
            <a:r>
              <a:rPr sz="1900" b="1" i="0">
                <a:solidFill>
                  <a:srgbClr val="1B334D"/>
                </a:solidFill>
                <a:latin typeface="Cordia New"/>
              </a:rPr>
              <a:t>นักศึกษาที่เข้าใจ Lab นี้ ต้องอธิบายได้ว่า “โมเดลทำอะไร, ตัวเลขมาจากไหน, Metric แปลว่าอะไร, และผลมีข้อจำกัดอะไร”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ordia New"/>
        <a:ea typeface="Cordia New"/>
        <a:cs typeface="Cordia New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dia New"/>
        <a:ea typeface="Cordia New"/>
        <a:cs typeface="Cordia New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10616</Words>
  <Application>Microsoft Macintosh PowerPoint</Application>
  <PresentationFormat>Widescreen</PresentationFormat>
  <Paragraphs>1578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SAKCHAI TANGPRASERT</cp:lastModifiedBy>
  <cp:revision>1</cp:revision>
  <dcterms:created xsi:type="dcterms:W3CDTF">2013-01-27T09:14:16Z</dcterms:created>
  <dcterms:modified xsi:type="dcterms:W3CDTF">2026-10-06T17:03:23Z</dcterms:modified>
  <cp:category/>
</cp:coreProperties>
</file>